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과제명과 부제 소개. 반복 수작업의 규모와 절감 목표를 한 화면으로 제시.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문제는 AI가 없어서가 아니라, AI를 믿게 만드는 장치가 없어서다. 이미 문서화된 업무표준을 레일이자 잣대로 삼는다.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과제명이 곧 구조: 자동화=몸통, 지능화=판단, 통합=단일 창구, 게이트=신뢰 축. Phase 1은 2종 프로세스 순차 검증.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채팅 지시 한 번으로 전처리-해석-후처리 완주. 최종 산출물은 메쉬가 아니라 협의 자료. 이 층이 1차 효과의 발생지.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어떻게 믿는가 1: 검증된 경로를 따르게 하라. 하네스는 레일·검증 기준·제약 소스로 3중 활용된다.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어떻게 믿는가 2: 하네스는 고정 문서가 아니라 살아있는 자산. 강건화 지표 3종이 무개입 완주율을 끌어올린다.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차별점. 저비용에서 고비용 순 3층 게이트. 2·3층은 실차 개발에서 이미 검증한 AI-AE 방법론 계승.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사람의 개입은 없애는 것이 아니라 설계한다. 게이트가 강건하기에 비전문가 모드가 가능 — 프론트로딩.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자동화가 절차라면 지능화는 판단. Adams에서 검증한 방법론을 구조/피로로 전이. 모든 것이 하나의 채팅 창구에서.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보안·데이터·도구·권한 4대 실현 기반. 현재 요소 PoC 다수 완료, Phase 1에서 지표 5종 실측.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 효과 산정식이 핵심. 실측치와 목표치를 정직하게 구분. 강건화될수록 같은 시스템이 내년에 더 절감.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사외 데이터 없음이 보안 강점. 아웃풋은 생성형 산출물 중심 6개 유형.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2094428"/>
            <a:ext cx="3474006" cy="502920"/>
          </a:xfrm>
          <a:prstGeom prst="roundRect">
            <a:avLst>
              <a:gd name="adj" fmla="val 50000"/>
            </a:avLst>
          </a:prstGeom>
          <a:ln w="7620">
            <a:solidFill>
              <a:srgbClr val="2E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07820" y="2197298"/>
            <a:ext cx="302958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FB0F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트랙 · 활용사례(AI PoC 과제)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4959906" y="2094428"/>
            <a:ext cx="4347210" cy="502920"/>
          </a:xfrm>
          <a:prstGeom prst="roundRect">
            <a:avLst>
              <a:gd name="adj" fmla="val 50000"/>
            </a:avLst>
          </a:prstGeom>
          <a:ln w="7620">
            <a:solidFill>
              <a:srgbClr val="2E4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34226" y="2197298"/>
            <a:ext cx="392898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FB0F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구현 도구 · 사내 AI(H-Chat Pro) 중심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130748"/>
            <a:ext cx="16089630" cy="1926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6300" b="1" spc="-63" kern="0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버추얼 성능개발(CAE) 통합 지능화·자동화</a:t>
            </a:r>
            <a:endParaRPr lang="en-US" sz="6300" dirty="0"/>
          </a:p>
        </p:txBody>
      </p:sp>
      <p:sp>
        <p:nvSpPr>
          <p:cNvPr id="7" name="Text 5"/>
          <p:cNvSpPr/>
          <p:nvPr/>
        </p:nvSpPr>
        <p:spPr>
          <a:xfrm>
            <a:off x="1333500" y="5361742"/>
            <a:ext cx="171831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8FB8F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— AI가 해석하고, 3중 게이트로 검증한다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1333500" y="6771442"/>
            <a:ext cx="15621000" cy="9525"/>
          </a:xfrm>
          <a:prstGeom prst="rect">
            <a:avLst/>
          </a:prstGeom>
          <a:solidFill>
            <a:srgbClr val="24405F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7198162"/>
            <a:ext cx="4997768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8~16시간</a:t>
            </a:r>
            <a:pPr algn="l" indent="0" marL="0">
              <a:buNone/>
            </a:pPr>
            <a:r>
              <a:rPr lang="en-US" sz="2250" b="1" dirty="0">
                <a:solidFill>
                  <a:srgbClr val="7A93B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/건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1333500" y="7887771"/>
            <a:ext cx="49977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9DB2C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해석 1건당 반복 수작업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5876925" y="7198162"/>
            <a:ext cx="9525" cy="994410"/>
          </a:xfrm>
          <a:prstGeom prst="rect">
            <a:avLst/>
          </a:prstGeom>
          <a:solidFill>
            <a:srgbClr val="24405F"/>
          </a:solidFill>
          <a:ln/>
        </p:spPr>
      </p:sp>
      <p:sp>
        <p:nvSpPr>
          <p:cNvPr id="12" name="Text 10"/>
          <p:cNvSpPr/>
          <p:nvPr/>
        </p:nvSpPr>
        <p:spPr>
          <a:xfrm>
            <a:off x="6417945" y="7198162"/>
            <a:ext cx="4997768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연 300건</a:t>
            </a:r>
            <a:pPr algn="l" indent="0" marL="0">
              <a:buNone/>
            </a:pPr>
            <a:r>
              <a:rPr lang="en-US" sz="2250" b="1" dirty="0">
                <a:solidFill>
                  <a:srgbClr val="7A93B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이상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6417945" y="7887771"/>
            <a:ext cx="49977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9DB2C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유사 해석 반복 발생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0961370" y="7198162"/>
            <a:ext cx="9525" cy="994410"/>
          </a:xfrm>
          <a:prstGeom prst="rect">
            <a:avLst/>
          </a:prstGeom>
          <a:solidFill>
            <a:srgbClr val="24405F"/>
          </a:solidFill>
          <a:ln/>
        </p:spPr>
      </p:sp>
      <p:sp>
        <p:nvSpPr>
          <p:cNvPr id="15" name="Text 13"/>
          <p:cNvSpPr/>
          <p:nvPr/>
        </p:nvSpPr>
        <p:spPr>
          <a:xfrm>
            <a:off x="11502390" y="7198162"/>
            <a:ext cx="5997321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6FA8F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연 약 1,700시간</a:t>
            </a:r>
            <a:pPr algn="l" indent="0" marL="0">
              <a:buNone/>
            </a:pPr>
            <a:r>
              <a:rPr lang="en-US" sz="2250" b="1" dirty="0">
                <a:solidFill>
                  <a:srgbClr val="7A93B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절감 목표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11502390" y="7887771"/>
            <a:ext cx="59973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9DB2C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약 210인일 · Phase 1 실측 확정</a:t>
            </a:r>
            <a:endParaRPr lang="en-US" sz="20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1. 제안배경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211580"/>
            <a:ext cx="18021300" cy="651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반복 수작업, 그리고 'AI를 믿게 만드는 장치'의 부재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282190"/>
            <a:ext cx="5283161" cy="2944178"/>
          </a:xfrm>
          <a:prstGeom prst="roundRect">
            <a:avLst>
              <a:gd name="adj" fmla="val 4529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1276350" y="2625090"/>
            <a:ext cx="5099006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문제 ① 반복 수작업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276350" y="3067050"/>
            <a:ext cx="509900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해석 1건 = 8~16시간의 수작업 반복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50645" y="3657600"/>
            <a:ext cx="4637365" cy="1263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6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모델 생성·수정 → 조건 설정 → 오류 수정·재실행 → 결과 정리·보고</a:t>
            </a:r>
            <a:endParaRPr lang="en-US" sz="1950" dirty="0"/>
          </a:p>
          <a:p>
            <a:pPr algn="l" marL="173355" indent="-173355">
              <a:lnSpc>
                <a:spcPct val="16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유사 해석 연 300건 이상 발생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02361" y="2282190"/>
            <a:ext cx="5283161" cy="2944178"/>
          </a:xfrm>
          <a:prstGeom prst="roundRect">
            <a:avLst>
              <a:gd name="adj" fmla="val 4529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6826211" y="2625090"/>
            <a:ext cx="5099006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문제 ② 지식의 개인 의존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6826211" y="3067050"/>
            <a:ext cx="509900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표준·보고서 산재 → 검색과 기억에 의존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900506" y="3657600"/>
            <a:ext cx="4637365" cy="1263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6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경험 수준에 따른 품질·리드타임 편차</a:t>
            </a:r>
            <a:endParaRPr lang="en-US" sz="1950" dirty="0"/>
          </a:p>
          <a:p>
            <a:pPr algn="l" marL="173355" indent="-173355">
              <a:lnSpc>
                <a:spcPct val="16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암묵지 미자산화 · 신규 인력 숙달 수개월</a:t>
            </a:r>
            <a:endParaRPr lang="en-US" sz="1950" dirty="0"/>
          </a:p>
          <a:p>
            <a:pPr algn="l" marL="173355" indent="-173355">
              <a:lnSpc>
                <a:spcPct val="16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설계·시험 부문은 의뢰 후 대기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052221" y="2282190"/>
            <a:ext cx="5283161" cy="2944178"/>
          </a:xfrm>
          <a:prstGeom prst="roundRect">
            <a:avLst>
              <a:gd name="adj" fmla="val 4529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12376071" y="2625090"/>
            <a:ext cx="5099006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B4540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문제 ③ 범용 AI의 한계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2376071" y="3067050"/>
            <a:ext cx="509900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가이드 없는 AI → 걸러낼 수 없는 오류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450366" y="3657600"/>
            <a:ext cx="4637365" cy="1263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6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환각 — 그럴듯하지만 틀린 모델링·조건</a:t>
            </a:r>
            <a:endParaRPr lang="en-US" sz="1950" dirty="0"/>
          </a:p>
          <a:p>
            <a:pPr algn="l" marL="173355" indent="-173355">
              <a:lnSpc>
                <a:spcPct val="16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과도설계 — 근거 없는 안전 여유</a:t>
            </a:r>
            <a:endParaRPr lang="en-US" sz="1950" dirty="0"/>
          </a:p>
          <a:p>
            <a:pPr algn="l" marL="173355" indent="-173355">
              <a:lnSpc>
                <a:spcPct val="16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고신뢰 엔지니어링에서 채택 불가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2500" y="8172450"/>
            <a:ext cx="16383000" cy="1504950"/>
          </a:xfrm>
          <a:prstGeom prst="roundRect">
            <a:avLst>
              <a:gd name="adj" fmla="val 8861"/>
            </a:avLst>
          </a:prstGeom>
          <a:solidFill>
            <a:srgbClr val="0E1B2C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8776335"/>
            <a:ext cx="718304" cy="3352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FB0F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출발점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2356604" y="8496300"/>
            <a:ext cx="1499659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문제는 'AI가 없어서'가 아니라 </a:t>
            </a:r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8FB8F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'AI를 믿게 만드는 장치가 없어서' </a:t>
            </a:r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— 이미 문서화된 업무표준을 AI가 따를 레일이자 산출물 검증의 잣대로 삼는다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2. 제안내용 ① 개요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211580"/>
            <a:ext cx="18021300" cy="651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과제 구조 — 하네스가 자동화를 '믿고 맡길 수 있게' 만든다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244090"/>
            <a:ext cx="609600" cy="3192661"/>
          </a:xfrm>
          <a:prstGeom prst="roundRect">
            <a:avLst>
              <a:gd name="adj" fmla="val 18750"/>
            </a:avLst>
          </a:prstGeom>
          <a:solidFill>
            <a:srgbClr val="EDF3FB"/>
          </a:solidFill>
          <a:ln/>
        </p:spPr>
      </p:sp>
      <p:sp>
        <p:nvSpPr>
          <p:cNvPr id="5" name="Text 3"/>
          <p:cNvSpPr/>
          <p:nvPr/>
        </p:nvSpPr>
        <p:spPr>
          <a:xfrm>
            <a:off x="1120140" y="2244090"/>
            <a:ext cx="350520" cy="3230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통합 · 하나의 채팅 창구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752600" y="2244090"/>
            <a:ext cx="8348663" cy="731520"/>
          </a:xfrm>
          <a:prstGeom prst="roundRect">
            <a:avLst>
              <a:gd name="adj" fmla="val 15625"/>
            </a:avLst>
          </a:prstGeom>
          <a:solidFill>
            <a:srgbClr val="F4F7FA"/>
          </a:solidFill>
          <a:ln w="7620">
            <a:solidFill>
              <a:srgbClr val="D9E0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45970" y="2461260"/>
            <a:ext cx="85381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지능화 — AI-AE 추론 </a:t>
            </a:r>
            <a:pPr algn="l" indent="0" marL="0">
              <a:buNone/>
            </a:pPr>
            <a:r>
              <a:rPr lang="en-US" sz="1800" b="1" dirty="0">
                <a:solidFill>
                  <a:srgbClr val="5A6B7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절차가 멈추는 지점의 '판단'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35167" y="3032760"/>
            <a:ext cx="91835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8CA0B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↓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752600" y="3356610"/>
            <a:ext cx="8348663" cy="883920"/>
          </a:xfrm>
          <a:prstGeom prst="roundRect">
            <a:avLst>
              <a:gd name="adj" fmla="val 12931"/>
            </a:avLst>
          </a:prstGeom>
          <a:solidFill>
            <a:srgbClr val="0E1B2C"/>
          </a:solidFill>
          <a:ln/>
        </p:spPr>
      </p:sp>
      <p:sp>
        <p:nvSpPr>
          <p:cNvPr id="10" name="Text 8"/>
          <p:cNvSpPr/>
          <p:nvPr/>
        </p:nvSpPr>
        <p:spPr>
          <a:xfrm>
            <a:off x="2038350" y="3649980"/>
            <a:ext cx="594742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자동화 — 전처리 → 해석 → 후처리 </a:t>
            </a:r>
            <a:pPr algn="l" indent="0" marL="0">
              <a:buNone/>
            </a:pPr>
            <a:r>
              <a:rPr lang="en-US" sz="1800" b="1" dirty="0">
                <a:solidFill>
                  <a:srgbClr val="8FB8F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몸통 · 1차 효과 발생지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8073509" y="3585210"/>
            <a:ext cx="1742003" cy="426720"/>
          </a:xfrm>
          <a:prstGeom prst="roundRect">
            <a:avLst>
              <a:gd name="adj" fmla="val 17857"/>
            </a:avLst>
          </a:prstGeom>
          <a:solidFill>
            <a:srgbClr val="3A2A1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5909" y="3661410"/>
            <a:ext cx="1513403" cy="3124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9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3중 검증 게이트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35167" y="4297680"/>
            <a:ext cx="91835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8CA0B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↕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752600" y="4621530"/>
            <a:ext cx="8348663" cy="731520"/>
          </a:xfrm>
          <a:prstGeom prst="roundRect">
            <a:avLst>
              <a:gd name="adj" fmla="val 15625"/>
            </a:avLst>
          </a:prstGeom>
          <a:solidFill>
            <a:srgbClr val="EDF3FB"/>
          </a:solidFill>
          <a:ln w="7620">
            <a:solidFill>
              <a:srgbClr val="BFD6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45970" y="4838700"/>
            <a:ext cx="85381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24A9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하네스 — 사내 표준·경험의 주입 </a:t>
            </a:r>
            <a:pPr algn="l" indent="0" marL="0">
              <a:buNone/>
            </a:pPr>
            <a:r>
              <a:rPr lang="en-US" sz="1800" b="1" dirty="0">
                <a:solidFill>
                  <a:srgbClr val="4A6B9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실행 레일 · 검증 기준 · 자가개선 환류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2500" y="5665351"/>
            <a:ext cx="942322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dirty="0">
                <a:solidFill>
                  <a:srgbClr val="5A6B7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과제명이 곧 구조 — '자동화' = 엔드투엔드 실행, '지능화' = 하네스 지식과 AI-AE 추론, '통합' = 단일 대화 창구, 부제의 '3중 게이트' = 전체를 믿게 만드는 신뢰 축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0558463" y="2244090"/>
            <a:ext cx="6777038" cy="2677001"/>
          </a:xfrm>
          <a:prstGeom prst="roundRect">
            <a:avLst>
              <a:gd name="adj" fmla="val 4981"/>
            </a:avLst>
          </a:prstGeom>
          <a:solidFill>
            <a:srgbClr val="F4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10882313" y="2529840"/>
            <a:ext cx="674227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Phase 1 적용 범위 (PoC)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882313" y="2952750"/>
            <a:ext cx="6742271" cy="436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025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구조/피로 대표 프로세스 2종 순차 적용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0963275" y="3465671"/>
            <a:ext cx="612457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6688" indent="-166688">
              <a:lnSpc>
                <a:spcPct val="160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① 부품 구조강도 해석 — 단순 프로세스 우선 검증</a:t>
            </a:r>
            <a:endParaRPr lang="en-US" sz="1875" dirty="0"/>
          </a:p>
          <a:p>
            <a:pPr algn="l" marL="166688" indent="-166688">
              <a:lnSpc>
                <a:spcPct val="160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② 샤시 부품 피로해석 — 하중신호 분석 포함 풀 파이프라인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882313" y="4361021"/>
            <a:ext cx="674227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B7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요소 PoC 다수 완료 → 엔드투엔드 통합 파일럿이 Phase 1 목표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558463" y="5149691"/>
            <a:ext cx="6777038" cy="2065020"/>
          </a:xfrm>
          <a:prstGeom prst="roundRect">
            <a:avLst>
              <a:gd name="adj" fmla="val 6458"/>
            </a:avLst>
          </a:prstGeom>
          <a:ln w="7620">
            <a:solidFill>
              <a:srgbClr val="D9E0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889933" y="5404961"/>
            <a:ext cx="672550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6B7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용어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889933" y="5793581"/>
            <a:ext cx="6297521" cy="1203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하네스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= AI가 따라야 할 업무표준·절차·판단 기준 </a:t>
            </a:r>
            <a:pPr algn="l" indent="0" marL="0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게이트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= 산출물의 하네스 준수 검증 단계 </a:t>
            </a:r>
            <a:pPr algn="l" indent="0" marL="0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자가개선 루프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= 실패·수정·승인 이력의 하네스 재반영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2. 제안내용 ② 자동화 〔효과성〕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211580"/>
            <a:ext cx="18021300" cy="651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해석 프로세스 엔드투엔드 자동화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320290"/>
            <a:ext cx="2914650" cy="2125980"/>
          </a:xfrm>
          <a:prstGeom prst="roundRect">
            <a:avLst>
              <a:gd name="adj" fmla="val 6272"/>
            </a:avLst>
          </a:prstGeom>
          <a:solidFill>
            <a:srgbClr val="0E1B2C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2636520"/>
            <a:ext cx="245745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엔지니어의 채팅 지시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19200" y="3444240"/>
            <a:ext cx="24574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DB2C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H-Chat Pro 단일 인터페이스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000500" y="2320290"/>
            <a:ext cx="371951" cy="2164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8CA0B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4429601" y="2320290"/>
            <a:ext cx="3762375" cy="2125980"/>
          </a:xfrm>
          <a:prstGeom prst="roundRect">
            <a:avLst>
              <a:gd name="adj" fmla="val 6272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4715351" y="2606040"/>
            <a:ext cx="350996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전처리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15351" y="2975610"/>
            <a:ext cx="35099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HyperMesh 모델 생성·수정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4783931" y="3413760"/>
            <a:ext cx="3198495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6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텍스트 라이브 연동</a:t>
            </a:r>
            <a:endParaRPr lang="en-US" sz="1800" dirty="0"/>
          </a:p>
          <a:p>
            <a:pPr algn="l" marL="160020" indent="-160020">
              <a:lnSpc>
                <a:spcPct val="16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FE모델·설계정보·하중신호 분석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25326" y="2320290"/>
            <a:ext cx="371951" cy="2164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8CA0B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8754428" y="2320290"/>
            <a:ext cx="3762375" cy="2125980"/>
          </a:xfrm>
          <a:prstGeom prst="roundRect">
            <a:avLst>
              <a:gd name="adj" fmla="val 6272"/>
            </a:avLst>
          </a:prstGeom>
          <a:solidFill>
            <a:srgbClr val="F4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9040178" y="2606040"/>
            <a:ext cx="350996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해석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40178" y="2975610"/>
            <a:ext cx="35099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구조해석 + 피로해석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9108758" y="3413760"/>
            <a:ext cx="3198495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6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Abaqus/Nastran + nCode</a:t>
            </a:r>
            <a:endParaRPr lang="en-US" sz="1800" dirty="0"/>
          </a:p>
          <a:p>
            <a:pPr algn="l" marL="160020" indent="-160020">
              <a:lnSpc>
                <a:spcPct val="16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해석 서버 연계 · 오류 자가복구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650152" y="2320290"/>
            <a:ext cx="371951" cy="2164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8CA0B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079254" y="2320290"/>
            <a:ext cx="4256246" cy="2125980"/>
          </a:xfrm>
          <a:prstGeom prst="roundRect">
            <a:avLst>
              <a:gd name="adj" fmla="val 6272"/>
            </a:avLst>
          </a:prstGeom>
          <a:solidFill>
            <a:srgbClr val="EDF3FB"/>
          </a:solidFill>
          <a:ln w="7620">
            <a:solidFill>
              <a:srgbClr val="BFD6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372624" y="2613660"/>
            <a:ext cx="403645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4A9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후처리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372624" y="2983230"/>
            <a:ext cx="403645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결과 분석 → 협의 자료까지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13441204" y="3421380"/>
            <a:ext cx="3677126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6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결과 시각화 · 사내 표준 양식 보고서</a:t>
            </a:r>
            <a:endParaRPr lang="en-US" sz="1800" dirty="0"/>
          </a:p>
          <a:p>
            <a:pPr algn="l" marL="160020" indent="-160020">
              <a:lnSpc>
                <a:spcPct val="16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설계부문 협의 자료 초안 자동 생성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2500" y="4693920"/>
            <a:ext cx="4817745" cy="426720"/>
          </a:xfrm>
          <a:prstGeom prst="roundRect">
            <a:avLst>
              <a:gd name="adj" fmla="val 17857"/>
            </a:avLst>
          </a:prstGeom>
          <a:solidFill>
            <a:srgbClr val="EAF6EF"/>
          </a:solidFill>
          <a:ln/>
        </p:spPr>
      </p:sp>
      <p:sp>
        <p:nvSpPr>
          <p:cNvPr id="23" name="Text 21"/>
          <p:cNvSpPr/>
          <p:nvPr/>
        </p:nvSpPr>
        <p:spPr>
          <a:xfrm>
            <a:off x="1123950" y="4770120"/>
            <a:ext cx="461937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7A4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PoC 확인 완료 · HyperMesh 텍스트 라이브 제어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922645" y="4693920"/>
            <a:ext cx="4827746" cy="426720"/>
          </a:xfrm>
          <a:prstGeom prst="roundRect">
            <a:avLst>
              <a:gd name="adj" fmla="val 17857"/>
            </a:avLst>
          </a:prstGeom>
          <a:solidFill>
            <a:srgbClr val="EAF6EF"/>
          </a:solidFill>
          <a:ln/>
        </p:spPr>
      </p:sp>
      <p:sp>
        <p:nvSpPr>
          <p:cNvPr id="25" name="Text 23"/>
          <p:cNvSpPr/>
          <p:nvPr/>
        </p:nvSpPr>
        <p:spPr>
          <a:xfrm>
            <a:off x="6094095" y="4770120"/>
            <a:ext cx="462967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7A4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PoC 확인 완료 · H-Chat Pro 경유 도구 실행 연동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902791" y="4693920"/>
            <a:ext cx="4755356" cy="426720"/>
          </a:xfrm>
          <a:prstGeom prst="roundRect">
            <a:avLst>
              <a:gd name="adj" fmla="val 17857"/>
            </a:avLst>
          </a:prstGeom>
          <a:solidFill>
            <a:srgbClr val="F4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11074241" y="4770120"/>
            <a:ext cx="455511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6B7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도구 연결 · 사내 승인 범위 내부 연동(RPC/MCP)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8526780"/>
            <a:ext cx="16383000" cy="9525"/>
          </a:xfrm>
          <a:prstGeom prst="rect">
            <a:avLst/>
          </a:prstGeom>
          <a:solidFill>
            <a:srgbClr val="D9E0E9"/>
          </a:solidFill>
          <a:ln/>
        </p:spPr>
      </p:sp>
      <p:sp>
        <p:nvSpPr>
          <p:cNvPr id="29" name="Text 27"/>
          <p:cNvSpPr/>
          <p:nvPr/>
        </p:nvSpPr>
        <p:spPr>
          <a:xfrm>
            <a:off x="952500" y="8820150"/>
            <a:ext cx="509374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실무의 최종 산출물은 메쉬가 아니라 </a:t>
            </a:r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'협의 자료'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6278880" y="8877300"/>
            <a:ext cx="1138831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5A6B7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대책 요약·근거·트레이드오프·검증 증빙까지 자동 생성 — 건당 8~16시간 반복 수작업을 직접 대체하는 1차 효과의 발생지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2. 제안내용 ③ 하네스 〔AI과제적합성 · 창의혁신성〕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211580"/>
            <a:ext cx="18021300" cy="651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하네스 구축 — AI가 검증된 경로를 따르게 한다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282190"/>
            <a:ext cx="7061121" cy="2310765"/>
          </a:xfrm>
          <a:prstGeom prst="roundRect">
            <a:avLst>
              <a:gd name="adj" fmla="val 5771"/>
            </a:avLst>
          </a:prstGeom>
          <a:solidFill>
            <a:srgbClr val="EDF3FB"/>
          </a:solidFill>
          <a:ln w="7620">
            <a:solidFill>
              <a:srgbClr val="BFD6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03020" y="2594610"/>
            <a:ext cx="6996089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24A9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지식 주입 (RAG) </a:t>
            </a:r>
            <a:pPr algn="l" indent="0" marL="0">
              <a:buNone/>
            </a:pPr>
            <a:r>
              <a:rPr lang="en-US" sz="1725" b="1" dirty="0">
                <a:solidFill>
                  <a:srgbClr val="1E7A46"/>
                </a:solidFill>
                <a:highlight>
                  <a:srgbClr val="EAF6EF"/>
                </a:highlight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PoC 구축 완료 · 실무 검증 중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377315" y="3017520"/>
            <a:ext cx="6361986" cy="1301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2636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사내 해석 업무표준·가이드</a:t>
            </a:r>
            <a:endParaRPr lang="en-US" sz="1950" dirty="0"/>
          </a:p>
          <a:p>
            <a:pPr algn="l" marL="173355" indent="-173355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2636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성능개발 경험 — 과거 해석 보고서</a:t>
            </a:r>
            <a:endParaRPr lang="en-US" sz="1950" dirty="0"/>
          </a:p>
          <a:p>
            <a:pPr algn="l" marL="173355" indent="-173355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2636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실무 해석 인풋모델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52500" y="4821555"/>
            <a:ext cx="7061121" cy="1849755"/>
          </a:xfrm>
          <a:prstGeom prst="roundRect">
            <a:avLst>
              <a:gd name="adj" fmla="val 7209"/>
            </a:avLst>
          </a:prstGeom>
          <a:solidFill>
            <a:srgbClr val="F4F7FA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5126355"/>
            <a:ext cx="7012853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TDD 방식 실행 통제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295400" y="5549265"/>
            <a:ext cx="6566580" cy="855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단계별 통과 조건을 사전 정의 — 조건을 만족해야 다음 단계로 진행, AI의 창의적 이탈 차단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8508921" y="2282190"/>
            <a:ext cx="8826579" cy="800100"/>
          </a:xfrm>
          <a:prstGeom prst="roundRect">
            <a:avLst>
              <a:gd name="adj" fmla="val 16667"/>
            </a:avLst>
          </a:prstGeom>
          <a:solidFill>
            <a:srgbClr val="0E1B2C"/>
          </a:solidFill>
          <a:ln/>
        </p:spPr>
      </p:sp>
      <p:sp>
        <p:nvSpPr>
          <p:cNvPr id="11" name="Text 9"/>
          <p:cNvSpPr/>
          <p:nvPr/>
        </p:nvSpPr>
        <p:spPr>
          <a:xfrm>
            <a:off x="8444782" y="2510790"/>
            <a:ext cx="895485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하네스의 3중 활용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067592" y="3158490"/>
            <a:ext cx="97092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8CA0B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↓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508921" y="3501390"/>
            <a:ext cx="2827854" cy="1645920"/>
          </a:xfrm>
          <a:prstGeom prst="roundRect">
            <a:avLst>
              <a:gd name="adj" fmla="val 6944"/>
            </a:avLst>
          </a:prstGeom>
          <a:ln w="7620">
            <a:solidFill>
              <a:srgbClr val="D9E0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45141" y="3756660"/>
            <a:ext cx="2590955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① 실행 레일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8745141" y="4160520"/>
            <a:ext cx="2431613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명확한 목표·절차 주입 — 표준 준수 실행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508224" y="3501390"/>
            <a:ext cx="2827854" cy="1645920"/>
          </a:xfrm>
          <a:prstGeom prst="roundRect">
            <a:avLst>
              <a:gd name="adj" fmla="val 6944"/>
            </a:avLst>
          </a:prstGeom>
          <a:ln w="7620">
            <a:solidFill>
              <a:srgbClr val="D9E0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44445" y="3756660"/>
            <a:ext cx="2590955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② 검증 기준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1744445" y="4160520"/>
            <a:ext cx="2431613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산출물 대조의 ground truth — 게이트 1층 호출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4507527" y="3501390"/>
            <a:ext cx="2827972" cy="1645920"/>
          </a:xfrm>
          <a:prstGeom prst="roundRect">
            <a:avLst>
              <a:gd name="adj" fmla="val 6944"/>
            </a:avLst>
          </a:prstGeom>
          <a:ln w="7620">
            <a:solidFill>
              <a:srgbClr val="D9E0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743748" y="3756660"/>
            <a:ext cx="2591086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③ 제약 소스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4743748" y="4160520"/>
            <a:ext cx="2431733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최적화 제약 자동 추출 — '만들 수 없는 안' 차단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508921" y="5394960"/>
            <a:ext cx="8826579" cy="2115979"/>
          </a:xfrm>
          <a:prstGeom prst="roundRect">
            <a:avLst>
              <a:gd name="adj" fmla="val 6302"/>
            </a:avLst>
          </a:prstGeom>
          <a:solidFill>
            <a:srgbClr val="F4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8832771" y="5661660"/>
            <a:ext cx="899676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왜 이 업무가 AI에 적합한가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8913733" y="6065520"/>
            <a:ext cx="8174117" cy="1216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6688" indent="-166688">
              <a:lnSpc>
                <a:spcPct val="165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인풋덱·로그·표준·보고서 — 텍스트 중심 업무</a:t>
            </a:r>
            <a:endParaRPr lang="en-US" sz="1875" dirty="0"/>
          </a:p>
          <a:p>
            <a:pPr algn="l" marL="166688" indent="-166688">
              <a:lnSpc>
                <a:spcPct val="165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프로세스가 이미 표준화·문서화 → 신규 대규모 데이터 구축 불필요</a:t>
            </a:r>
            <a:endParaRPr lang="en-US" sz="1875" dirty="0"/>
          </a:p>
          <a:p>
            <a:pPr algn="l" marL="166688" indent="-166688">
              <a:lnSpc>
                <a:spcPct val="165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LLM 에이전트(생성·추론형 AI — 예측형 ML 아님)에 최적 구조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2. 제안내용 ④ 자가개선 강건화 〔창의혁신성 · 효과성〕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211580"/>
            <a:ext cx="18021300" cy="651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자가개선 루프 — 쓸수록 강해지는 하네스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320290"/>
            <a:ext cx="5055513" cy="2468880"/>
          </a:xfrm>
          <a:prstGeom prst="roundRect">
            <a:avLst>
              <a:gd name="adj" fmla="val 5401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2606040"/>
            <a:ext cx="489050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① 경험 수집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2994660"/>
            <a:ext cx="4453533" cy="1546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6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실행 로그 분석</a:t>
            </a:r>
            <a:endParaRPr lang="en-US" sz="1800" dirty="0"/>
          </a:p>
          <a:p>
            <a:pPr algn="l" marL="160020" indent="-160020">
              <a:lnSpc>
                <a:spcPct val="16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에러 자가복구(self-correction) 경험</a:t>
            </a:r>
            <a:endParaRPr lang="en-US" sz="1800" dirty="0"/>
          </a:p>
          <a:p>
            <a:pPr algn="l" marL="160020" indent="-160020">
              <a:lnSpc>
                <a:spcPct val="16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엔지니어 승인·반려 사유</a:t>
            </a:r>
            <a:endParaRPr lang="en-US" sz="1800" dirty="0"/>
          </a:p>
          <a:p>
            <a:pPr algn="l" marL="160020" indent="-160020">
              <a:lnSpc>
                <a:spcPct val="16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해석의 노하우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60413" y="2320290"/>
            <a:ext cx="371951" cy="2506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8CA0B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608564" y="2320290"/>
            <a:ext cx="5055632" cy="2468880"/>
          </a:xfrm>
          <a:prstGeom prst="roundRect">
            <a:avLst>
              <a:gd name="adj" fmla="val 5401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6913364" y="2606040"/>
            <a:ext cx="489063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② 지식 자산화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13364" y="2994660"/>
            <a:ext cx="489063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지식 위키 · 사례 카드 축적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913364" y="3480435"/>
            <a:ext cx="457941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개인 암묵지의 형식지 전환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16596" y="2320290"/>
            <a:ext cx="371951" cy="2506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8CA0B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264748" y="2320290"/>
            <a:ext cx="5070753" cy="2468880"/>
          </a:xfrm>
          <a:prstGeom prst="roundRect">
            <a:avLst>
              <a:gd name="adj" fmla="val 5401"/>
            </a:avLst>
          </a:prstGeom>
          <a:solidFill>
            <a:srgbClr val="EDF3FB"/>
          </a:solidFill>
          <a:ln w="7620">
            <a:solidFill>
              <a:srgbClr val="BFD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577167" y="2613660"/>
            <a:ext cx="489050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4A9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③ 하네스 환류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577167" y="3002280"/>
            <a:ext cx="489050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실행 레일·검증 기준 지속 강화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577167" y="3488055"/>
            <a:ext cx="457929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다음 실행의 품질로 즉시 반영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3350" y="4941570"/>
            <a:ext cx="18021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8CA0B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↺ 반복 실행마다 루프 순환 </a:t>
            </a:r>
            <a:pPr algn="ctr" indent="0" marL="0">
              <a:buNone/>
            </a:pPr>
            <a:r>
              <a:rPr lang="en-US" sz="1875" b="1" dirty="0">
                <a:solidFill>
                  <a:srgbClr val="5A6B7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(PoC·설계 단계)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52500" y="7665720"/>
            <a:ext cx="16383000" cy="9525"/>
          </a:xfrm>
          <a:prstGeom prst="rect">
            <a:avLst/>
          </a:prstGeom>
          <a:solidFill>
            <a:srgbClr val="D9E0E9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7997190"/>
            <a:ext cx="1802130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5A6B7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강건화 계측 지표 — 무개입 완주율을 끌어올리는 동력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52500" y="8477250"/>
            <a:ext cx="3663791" cy="120015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1219200" y="8705850"/>
            <a:ext cx="344343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통과율 ↑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219200" y="9163050"/>
            <a:ext cx="344343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게이트 1회 통과율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825841" y="8477250"/>
            <a:ext cx="3663791" cy="120015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24" name="Text 22"/>
          <p:cNvSpPr/>
          <p:nvPr/>
        </p:nvSpPr>
        <p:spPr>
          <a:xfrm>
            <a:off x="5092541" y="8705850"/>
            <a:ext cx="344343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재발률 ↓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5092541" y="9163050"/>
            <a:ext cx="344343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동일 에러 재발률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699182" y="8477250"/>
            <a:ext cx="3663791" cy="120015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8965882" y="8705850"/>
            <a:ext cx="344343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반복 ↓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8965882" y="9163050"/>
            <a:ext cx="344343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자가수정 반복 횟수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572524" y="8477250"/>
            <a:ext cx="4762857" cy="1200150"/>
          </a:xfrm>
          <a:prstGeom prst="roundRect">
            <a:avLst>
              <a:gd name="adj" fmla="val 9524"/>
            </a:avLst>
          </a:prstGeom>
          <a:solidFill>
            <a:srgbClr val="0E1B2C"/>
          </a:solidFill>
          <a:ln/>
        </p:spPr>
      </p:sp>
      <p:sp>
        <p:nvSpPr>
          <p:cNvPr id="30" name="Text 28"/>
          <p:cNvSpPr/>
          <p:nvPr/>
        </p:nvSpPr>
        <p:spPr>
          <a:xfrm>
            <a:off x="12839224" y="8705850"/>
            <a:ext cx="211693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일회성 자동화가 아닌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8FB8F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지속 성장형 시스템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7FB0F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2. 제안내용 ⑤ 3중 검증 게이트 〔창의혁신성 · AI과제적합성〕 ★ 핵심 차별점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211580"/>
            <a:ext cx="18021300" cy="651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3중 검증 게이트 — 환각·과도설계 차단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52500" y="2282190"/>
            <a:ext cx="98779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A93B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모든 산출물, 저비용 → 고비용 순 통과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689860"/>
            <a:ext cx="8979932" cy="1264920"/>
          </a:xfrm>
          <a:prstGeom prst="roundRect">
            <a:avLst>
              <a:gd name="adj" fmla="val 9036"/>
            </a:avLst>
          </a:prstGeom>
          <a:solidFill>
            <a:srgbClr val="16283E"/>
          </a:solidFill>
          <a:ln w="7620">
            <a:solidFill>
              <a:srgbClr val="2E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4920" y="2945130"/>
            <a:ext cx="2428161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8FB8F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1층 · 하네스 문서 대조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3643789" y="2983230"/>
            <a:ext cx="118681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7A93B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저비용 · 상시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264920" y="3345180"/>
            <a:ext cx="9190601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B9C8D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사내 표준 준수 자동 확인 — 하네스가 실행 레일이자 검증 기준(ground truth)으로 이중 작동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7801" y="4030980"/>
            <a:ext cx="9249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4A668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↓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2500" y="4354830"/>
            <a:ext cx="8979932" cy="1264920"/>
          </a:xfrm>
          <a:prstGeom prst="roundRect">
            <a:avLst>
              <a:gd name="adj" fmla="val 9036"/>
            </a:avLst>
          </a:prstGeom>
          <a:solidFill>
            <a:srgbClr val="16283E"/>
          </a:solidFill>
          <a:ln w="7620">
            <a:solidFill>
              <a:srgbClr val="2E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4920" y="4610100"/>
            <a:ext cx="3295043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8FB8F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2층 · LLM 자기검토·교차검증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4431863" y="4648200"/>
            <a:ext cx="45493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7A93B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중간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264920" y="5010150"/>
            <a:ext cx="9190601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B9C8D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추론 근거를 단계별로 노출해 점검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7801" y="5695950"/>
            <a:ext cx="9249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4A668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↓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6019800"/>
            <a:ext cx="8979932" cy="1619250"/>
          </a:xfrm>
          <a:prstGeom prst="roundRect">
            <a:avLst>
              <a:gd name="adj" fmla="val 7059"/>
            </a:avLst>
          </a:prstGeom>
          <a:solidFill>
            <a:srgbClr val="1C3450"/>
          </a:solidFill>
          <a:ln w="7620">
            <a:solidFill>
              <a:srgbClr val="3E60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4920" y="6275070"/>
            <a:ext cx="3046988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AFCDF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3층 · 물리 타당성·실적 검증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4206359" y="6313170"/>
            <a:ext cx="88570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7A93B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최종 관문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1264920" y="6675120"/>
            <a:ext cx="8605745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B9C8D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평형·단위·자릿수·분포 패턴 등 물리 법칙 기반 타당성 + 유사 부품의 검증된 실적 범위 대조 (단순 문제는 이론값 직접 대조 추가)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52500" y="7848600"/>
            <a:ext cx="8979932" cy="723900"/>
          </a:xfrm>
          <a:prstGeom prst="roundRect">
            <a:avLst>
              <a:gd name="adj" fmla="val 15789"/>
            </a:avLst>
          </a:prstGeom>
          <a:solidFill>
            <a:srgbClr val="3A2A18"/>
          </a:solidFill>
          <a:ln/>
        </p:spPr>
      </p:sp>
      <p:sp>
        <p:nvSpPr>
          <p:cNvPr id="20" name="Text 18"/>
          <p:cNvSpPr/>
          <p:nvPr/>
        </p:nvSpPr>
        <p:spPr>
          <a:xfrm>
            <a:off x="1257300" y="8058150"/>
            <a:ext cx="92073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D9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게이트 통과 = 재작업 없는 완주 → 무개입 완주율·리소스 절감 직결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10427732" y="2282190"/>
            <a:ext cx="7114879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A93B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2·3층은 이미 실차 개발에서 검증 — AI-AE 2단계 방법론(LLM 추론 + 솔버 검증), Adams 부시 장착각 최적화 실측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427732" y="3040380"/>
            <a:ext cx="6907649" cy="1352550"/>
          </a:xfrm>
          <a:prstGeom prst="roundRect">
            <a:avLst>
              <a:gd name="adj" fmla="val 8451"/>
            </a:avLst>
          </a:prstGeom>
          <a:solidFill>
            <a:srgbClr val="16283E"/>
          </a:solidFill>
          <a:ln/>
        </p:spPr>
      </p:sp>
      <p:sp>
        <p:nvSpPr>
          <p:cNvPr id="23" name="Text 21"/>
          <p:cNvSpPr/>
          <p:nvPr/>
        </p:nvSpPr>
        <p:spPr>
          <a:xfrm>
            <a:off x="10732532" y="3288030"/>
            <a:ext cx="6927854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100%</a:t>
            </a:r>
            <a:endParaRPr lang="en-US" sz="3450" dirty="0"/>
          </a:p>
        </p:txBody>
      </p:sp>
      <p:sp>
        <p:nvSpPr>
          <p:cNvPr id="24" name="Text 22"/>
          <p:cNvSpPr/>
          <p:nvPr/>
        </p:nvSpPr>
        <p:spPr>
          <a:xfrm>
            <a:off x="10732532" y="3870960"/>
            <a:ext cx="692785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DB2C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모델 제원 인식률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427732" y="4602480"/>
            <a:ext cx="6907649" cy="1352550"/>
          </a:xfrm>
          <a:prstGeom prst="roundRect">
            <a:avLst>
              <a:gd name="adj" fmla="val 8451"/>
            </a:avLst>
          </a:prstGeom>
          <a:solidFill>
            <a:srgbClr val="16283E"/>
          </a:solidFill>
          <a:ln/>
        </p:spPr>
      </p:sp>
      <p:sp>
        <p:nvSpPr>
          <p:cNvPr id="26" name="Text 24"/>
          <p:cNvSpPr/>
          <p:nvPr/>
        </p:nvSpPr>
        <p:spPr>
          <a:xfrm>
            <a:off x="10732532" y="4850130"/>
            <a:ext cx="6927854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6° 이내</a:t>
            </a:r>
            <a:endParaRPr lang="en-US" sz="3450" dirty="0"/>
          </a:p>
        </p:txBody>
      </p:sp>
      <p:sp>
        <p:nvSpPr>
          <p:cNvPr id="27" name="Text 25"/>
          <p:cNvSpPr/>
          <p:nvPr/>
        </p:nvSpPr>
        <p:spPr>
          <a:xfrm>
            <a:off x="10732532" y="5433060"/>
            <a:ext cx="692785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DB2C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최적각 예측 - 솔버 검증 정합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427732" y="6164580"/>
            <a:ext cx="6907649" cy="1352550"/>
          </a:xfrm>
          <a:prstGeom prst="roundRect">
            <a:avLst>
              <a:gd name="adj" fmla="val 8451"/>
            </a:avLst>
          </a:prstGeom>
          <a:solidFill>
            <a:srgbClr val="16283E"/>
          </a:solidFill>
          <a:ln/>
        </p:spPr>
      </p:sp>
      <p:sp>
        <p:nvSpPr>
          <p:cNvPr id="29" name="Text 27"/>
          <p:cNvSpPr/>
          <p:nvPr/>
        </p:nvSpPr>
        <p:spPr>
          <a:xfrm>
            <a:off x="10732532" y="6412230"/>
            <a:ext cx="6927854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6FA8F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28배 단축</a:t>
            </a:r>
            <a:endParaRPr lang="en-US" sz="3450" dirty="0"/>
          </a:p>
        </p:txBody>
      </p:sp>
      <p:sp>
        <p:nvSpPr>
          <p:cNvPr id="30" name="Text 28"/>
          <p:cNvSpPr/>
          <p:nvPr/>
        </p:nvSpPr>
        <p:spPr>
          <a:xfrm>
            <a:off x="10732532" y="6995160"/>
            <a:ext cx="692785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DB2C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설계탐색 7시간 → 15분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427732" y="7726680"/>
            <a:ext cx="7598414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7A93B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1층은 여기에 사내 표준 대조 층을 신설해 보강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9DB2C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(AI-AE 방법론 PoC 검증 완료)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2. 제안내용 ⑥ 운영 모드 〔창의혁신성 · 확대가능성〕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211580"/>
            <a:ext cx="18021300" cy="651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운영 모드 이원화 — 사람의 개입을 '설계'한다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52500" y="2015490"/>
            <a:ext cx="18021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A6B7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Human-in-the-Loop · 게이트가 강건하기에 비전문가 모드가 가능하다</a:t>
            </a:r>
            <a:endParaRPr lang="en-US" sz="2025" dirty="0"/>
          </a:p>
        </p:txBody>
      </p:sp>
      <p:sp>
        <p:nvSpPr>
          <p:cNvPr id="5" name="Shape 3"/>
          <p:cNvSpPr/>
          <p:nvPr/>
        </p:nvSpPr>
        <p:spPr>
          <a:xfrm>
            <a:off x="952500" y="2701290"/>
            <a:ext cx="8039100" cy="2524125"/>
          </a:xfrm>
          <a:prstGeom prst="roundRect">
            <a:avLst>
              <a:gd name="adj" fmla="val 5283"/>
            </a:avLst>
          </a:prstGeom>
          <a:solidFill>
            <a:srgbClr val="EDF3FB"/>
          </a:solidFill>
          <a:ln w="7620">
            <a:solidFill>
              <a:srgbClr val="BFD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1120" y="3051810"/>
            <a:ext cx="699968" cy="388620"/>
          </a:xfrm>
          <a:prstGeom prst="roundRect">
            <a:avLst>
              <a:gd name="adj" fmla="val 19608"/>
            </a:avLst>
          </a:prstGeom>
          <a:solidFill>
            <a:srgbClr val="1B66D6"/>
          </a:solidFill>
          <a:ln/>
        </p:spPr>
      </p:sp>
      <p:sp>
        <p:nvSpPr>
          <p:cNvPr id="7" name="Text 5"/>
          <p:cNvSpPr/>
          <p:nvPr/>
        </p:nvSpPr>
        <p:spPr>
          <a:xfrm>
            <a:off x="1493520" y="3108960"/>
            <a:ext cx="47136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93488" y="3063240"/>
            <a:ext cx="246876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마일스톤 승인 모드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15415" y="3611880"/>
            <a:ext cx="7263765" cy="1301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2636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대상 — 해석 엔지니어</a:t>
            </a:r>
            <a:endParaRPr lang="en-US" sz="1950" dirty="0"/>
          </a:p>
          <a:p>
            <a:pPr algn="l" marL="173355" indent="-173355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2636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모델 확정·해석조건 확정·결과 판정에서 직접 검토·승인</a:t>
            </a:r>
            <a:endParaRPr lang="en-US" sz="1950" dirty="0"/>
          </a:p>
          <a:p>
            <a:pPr algn="l" marL="173355" indent="-173355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2636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승인·반려 사유는 하네스로 환류 → 자산화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296400" y="2701290"/>
            <a:ext cx="8039100" cy="2524125"/>
          </a:xfrm>
          <a:prstGeom prst="roundRect">
            <a:avLst>
              <a:gd name="adj" fmla="val 5283"/>
            </a:avLst>
          </a:prstGeom>
          <a:solidFill>
            <a:srgbClr val="F4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9677400" y="3044190"/>
            <a:ext cx="699968" cy="388620"/>
          </a:xfrm>
          <a:prstGeom prst="roundRect">
            <a:avLst>
              <a:gd name="adj" fmla="val 19608"/>
            </a:avLst>
          </a:prstGeom>
          <a:solidFill>
            <a:srgbClr val="52627A"/>
          </a:solidFill>
          <a:ln/>
        </p:spPr>
      </p:sp>
      <p:sp>
        <p:nvSpPr>
          <p:cNvPr id="12" name="Text 10"/>
          <p:cNvSpPr/>
          <p:nvPr/>
        </p:nvSpPr>
        <p:spPr>
          <a:xfrm>
            <a:off x="9829800" y="3101340"/>
            <a:ext cx="47136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옵션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29769" y="3055620"/>
            <a:ext cx="1889224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자동 진행 모드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751695" y="3604260"/>
            <a:ext cx="7279005" cy="1301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2636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대상 — 설계·시험 등 비전문가의 셀프서비스 사전검토</a:t>
            </a:r>
            <a:endParaRPr lang="en-US" sz="1950" dirty="0"/>
          </a:p>
          <a:p>
            <a:pPr algn="l" marL="173355" indent="-173355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2636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자동 게이트(3중 검증) 상시 작동 · 산출물 '사전검토용' 구분</a:t>
            </a:r>
            <a:endParaRPr lang="en-US" sz="1950" dirty="0"/>
          </a:p>
          <a:p>
            <a:pPr algn="l" marL="173355" indent="-173355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2636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공식 판정 활용 시 해석 엔지니어 승인 경유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7780020"/>
            <a:ext cx="16383000" cy="9525"/>
          </a:xfrm>
          <a:prstGeom prst="rect">
            <a:avLst/>
          </a:prstGeom>
          <a:solidFill>
            <a:srgbClr val="D9E0E9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8092440"/>
            <a:ext cx="1802130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5A6B7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일하는 방식의 변화 — CAE 역량의 프론트로딩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952500" y="8572500"/>
            <a:ext cx="5321261" cy="1104900"/>
          </a:xfrm>
          <a:prstGeom prst="roundRect">
            <a:avLst>
              <a:gd name="adj" fmla="val 10345"/>
            </a:avLst>
          </a:prstGeom>
          <a:solidFill>
            <a:srgbClr val="F4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250" y="8801100"/>
            <a:ext cx="522473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해석 엔지니어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8250" y="9151620"/>
            <a:ext cx="522473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반복 실행자 </a:t>
            </a:r>
            <a:pPr algn="l" indent="0" marL="0">
              <a:buNone/>
            </a:pPr>
            <a:r>
              <a:rPr lang="en-US" sz="1950" dirty="0">
                <a:solidFill>
                  <a:srgbClr val="8CA0B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</a:t>
            </a:r>
            <a:pPr algn="l" indent="0" marL="0">
              <a:buNone/>
            </a:pPr>
            <a:r>
              <a:rPr lang="en-US" sz="1950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목표 정의자·검증 승인자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6483311" y="8572500"/>
            <a:ext cx="5321261" cy="1104900"/>
          </a:xfrm>
          <a:prstGeom prst="roundRect">
            <a:avLst>
              <a:gd name="adj" fmla="val 10345"/>
            </a:avLst>
          </a:prstGeom>
          <a:solidFill>
            <a:srgbClr val="F4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6769061" y="8801100"/>
            <a:ext cx="522473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설계·시험 엔지니어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69061" y="9151620"/>
            <a:ext cx="522473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의뢰 후 대기 </a:t>
            </a:r>
            <a:pPr algn="l" indent="0" marL="0">
              <a:buNone/>
            </a:pPr>
            <a:r>
              <a:rPr lang="en-US" sz="1950" dirty="0">
                <a:solidFill>
                  <a:srgbClr val="8CA0B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</a:t>
            </a:r>
            <a:pPr algn="l" indent="0" marL="0">
              <a:buNone/>
            </a:pPr>
            <a:r>
              <a:rPr lang="en-US" sz="1950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셀프서비스 사전검토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2014121" y="8572500"/>
            <a:ext cx="5321261" cy="1104900"/>
          </a:xfrm>
          <a:prstGeom prst="roundRect">
            <a:avLst>
              <a:gd name="adj" fmla="val 10345"/>
            </a:avLst>
          </a:prstGeom>
          <a:solidFill>
            <a:srgbClr val="F4F7FA"/>
          </a:solidFill>
          <a:ln/>
        </p:spPr>
      </p:sp>
      <p:sp>
        <p:nvSpPr>
          <p:cNvPr id="24" name="Text 22"/>
          <p:cNvSpPr/>
          <p:nvPr/>
        </p:nvSpPr>
        <p:spPr>
          <a:xfrm>
            <a:off x="12299871" y="8801100"/>
            <a:ext cx="522473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조직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299871" y="9151620"/>
            <a:ext cx="522473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개인 암묵지 </a:t>
            </a:r>
            <a:pPr algn="l" indent="0" marL="0">
              <a:buNone/>
            </a:pPr>
            <a:r>
              <a:rPr lang="en-US" sz="1950" dirty="0">
                <a:solidFill>
                  <a:srgbClr val="8CA0B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</a:t>
            </a:r>
            <a:pPr algn="l" indent="0" marL="0">
              <a:buNone/>
            </a:pPr>
            <a:r>
              <a:rPr lang="en-US" sz="1950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하네스라는 형식지 자산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2. 제안내용 ⑦ 지능화·통합 〔AI과제적합성 · 효과성〕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211580"/>
            <a:ext cx="18021300" cy="651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지능화 — 절차가 멈추는 지점의 '판단'을 수행한다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205990"/>
            <a:ext cx="16383000" cy="792480"/>
          </a:xfrm>
          <a:prstGeom prst="roundRect">
            <a:avLst>
              <a:gd name="adj" fmla="val 16827"/>
            </a:avLst>
          </a:prstGeom>
          <a:solidFill>
            <a:srgbClr val="0E1B2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465070"/>
            <a:ext cx="1420225" cy="3124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FB0F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공통 실행 패턴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853214" y="2457450"/>
            <a:ext cx="2261438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가설 생성 (LLM 추론)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5042416" y="2453640"/>
            <a:ext cx="30241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668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401985" y="2457450"/>
            <a:ext cx="954405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검증 설계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6413540" y="2453640"/>
            <a:ext cx="30241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668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773109" y="2457450"/>
            <a:ext cx="1516225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솔버/이론 실행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8284845" y="2453640"/>
            <a:ext cx="30241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668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8644414" y="2457450"/>
            <a:ext cx="954405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대조 판정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9655969" y="2453640"/>
            <a:ext cx="30241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668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015538" y="2457450"/>
            <a:ext cx="1160264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위키 자산화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2321303" y="2465070"/>
            <a:ext cx="5138428" cy="3124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9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추론 산출물도 3중 게이트 통과 — "판단도 검증된다"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3265170"/>
            <a:ext cx="3952875" cy="1626870"/>
          </a:xfrm>
          <a:prstGeom prst="roundRect">
            <a:avLst>
              <a:gd name="adj" fmla="val 7026"/>
            </a:avLst>
          </a:prstGeom>
          <a:solidFill>
            <a:srgbClr val="F4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1219200" y="3512820"/>
            <a:ext cx="376142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해석 전 </a:t>
            </a:r>
            <a:pPr algn="l" indent="0" marL="0">
              <a:buNone/>
            </a:pPr>
            <a:r>
              <a:rPr lang="en-US" sz="1650" b="1" dirty="0">
                <a:solidFill>
                  <a:srgbClr val="1E7A4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PoC 근거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19200" y="3882390"/>
            <a:ext cx="352205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해석 계획·하중 추론 — 주손상 방향·지배 하중케이스 도출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5095875" y="3265170"/>
            <a:ext cx="3952875" cy="1626870"/>
          </a:xfrm>
          <a:prstGeom prst="roundRect">
            <a:avLst>
              <a:gd name="adj" fmla="val 7026"/>
            </a:avLst>
          </a:prstGeom>
          <a:solidFill>
            <a:srgbClr val="F4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5362575" y="3512820"/>
            <a:ext cx="376142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해석 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62575" y="3882390"/>
            <a:ext cx="352205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원인 진단 — 가설 수립 → 간이 검증 → 원인 확정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9239250" y="3265170"/>
            <a:ext cx="3952875" cy="1626870"/>
          </a:xfrm>
          <a:prstGeom prst="roundRect">
            <a:avLst>
              <a:gd name="adj" fmla="val 7026"/>
            </a:avLst>
          </a:prstGeom>
          <a:solidFill>
            <a:srgbClr val="F4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9505950" y="3512820"/>
            <a:ext cx="376142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개선 </a:t>
            </a:r>
            <a:pPr algn="l" indent="0" marL="0">
              <a:buNone/>
            </a:pPr>
            <a:r>
              <a:rPr lang="en-US" sz="1650" b="1" dirty="0">
                <a:solidFill>
                  <a:srgbClr val="1E7A4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PoC 완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505950" y="3882390"/>
            <a:ext cx="352205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LLM 파라미터 스터디 — 검증 포인트 10→4개(60%↓) 실측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3382625" y="3265170"/>
            <a:ext cx="3952875" cy="1626870"/>
          </a:xfrm>
          <a:prstGeom prst="roundRect">
            <a:avLst>
              <a:gd name="adj" fmla="val 7026"/>
            </a:avLst>
          </a:prstGeom>
          <a:solidFill>
            <a:srgbClr val="F4F7FA"/>
          </a:solidFill>
          <a:ln/>
        </p:spPr>
      </p:sp>
      <p:sp>
        <p:nvSpPr>
          <p:cNvPr id="26" name="Text 24"/>
          <p:cNvSpPr/>
          <p:nvPr/>
        </p:nvSpPr>
        <p:spPr>
          <a:xfrm>
            <a:off x="13649325" y="3512820"/>
            <a:ext cx="376142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상시 </a:t>
            </a:r>
            <a:pPr algn="l" indent="0" marL="0">
              <a:buNone/>
            </a:pPr>
            <a:r>
              <a:rPr lang="en-US" sz="1650" b="1" dirty="0">
                <a:solidFill>
                  <a:srgbClr val="1E7A4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PoC 근거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649325" y="3882390"/>
            <a:ext cx="352205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모델·지식 Q&amp;A — 사례 카드 기반 3단 유추, 출처 인용 강제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952500" y="7782401"/>
            <a:ext cx="16383000" cy="9525"/>
          </a:xfrm>
          <a:prstGeom prst="rect">
            <a:avLst/>
          </a:prstGeom>
          <a:solidFill>
            <a:srgbClr val="D9E0E9"/>
          </a:solidFill>
          <a:ln/>
        </p:spPr>
      </p:sp>
      <p:sp>
        <p:nvSpPr>
          <p:cNvPr id="29" name="Text 27"/>
          <p:cNvSpPr/>
          <p:nvPr/>
        </p:nvSpPr>
        <p:spPr>
          <a:xfrm>
            <a:off x="952500" y="8094822"/>
            <a:ext cx="884301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통합 — 하나의 대화 창구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952500" y="8498681"/>
            <a:ext cx="8280273" cy="1216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자동화 제어 · Q&amp;A · 마일스톤 승인이 하나의 채팅 인터페이스에서 — IDE 코파일럿 패턴의 CAE 이식. 세션 컨텍스트 브리지로 "이 부품", "방금 결과"에 재설명 없이 즉답 (대형 FE 모델은 조회만)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9296400" y="8094822"/>
            <a:ext cx="884301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검증된 방법론의 전이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9296400" y="8498681"/>
            <a:ext cx="8280273" cy="1216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Adams에서 검증한 AI-AE 방법론을 자동화 대상인 구조/피로(HyperMesh + Abaqus/Nastran + nCode)로 전이 — 반복 판단은 Skill·Command·Agent로 표준화</a:t>
            </a:r>
            <a:endParaRPr lang="en-US" sz="18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2. 제안내용 ⑧ 실현 기반·로드맵 〔실현가능성 · 확대가능성〕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211580"/>
            <a:ext cx="18021300" cy="651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실현 기반과 단계별 로드맵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205990"/>
            <a:ext cx="3952875" cy="1962150"/>
          </a:xfrm>
          <a:prstGeom prst="roundRect">
            <a:avLst>
              <a:gd name="adj" fmla="val 5825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2453640"/>
            <a:ext cx="376142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보안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19200" y="2823210"/>
            <a:ext cx="3522059" cy="1135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 과정 사내망 구동 · 사내 승인 H-Chat Pro만 경유 — 데이터 외부 반출 없음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95875" y="2205990"/>
            <a:ext cx="3952875" cy="1962150"/>
          </a:xfrm>
          <a:prstGeom prst="roundRect">
            <a:avLst>
              <a:gd name="adj" fmla="val 5825"/>
            </a:avLst>
          </a:prstGeom>
          <a:solidFill>
            <a:srgbClr val="F4F7FA"/>
          </a:solidFill>
          <a:ln/>
        </p:spPr>
      </p:sp>
      <p:sp>
        <p:nvSpPr>
          <p:cNvPr id="8" name="Text 6"/>
          <p:cNvSpPr/>
          <p:nvPr/>
        </p:nvSpPr>
        <p:spPr>
          <a:xfrm>
            <a:off x="5362575" y="2453640"/>
            <a:ext cx="376142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데이터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62575" y="2823210"/>
            <a:ext cx="3522059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표준·가이드·인풋모델 기정비 — 신규 대규모 구축 불필요, 인덱싱 수준 착수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39250" y="2205990"/>
            <a:ext cx="3952875" cy="1962150"/>
          </a:xfrm>
          <a:prstGeom prst="roundRect">
            <a:avLst>
              <a:gd name="adj" fmla="val 5825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9505950" y="2453640"/>
            <a:ext cx="376142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도구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05950" y="2823210"/>
            <a:ext cx="3522059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H-Chat Pro 경유 도구 실행 연동 PoC 확인 완료 — 계획이 아닌 실증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382625" y="2205990"/>
            <a:ext cx="3952875" cy="1962150"/>
          </a:xfrm>
          <a:prstGeom prst="roundRect">
            <a:avLst>
              <a:gd name="adj" fmla="val 5825"/>
            </a:avLst>
          </a:prstGeom>
          <a:solidFill>
            <a:srgbClr val="F4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13649325" y="2453640"/>
            <a:ext cx="376142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권한·책임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649325" y="2823210"/>
            <a:ext cx="3522059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기존 권한·라이선스 범위 내 실행 — 공식 승인 권한은 해석 엔지니어 유지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6210300"/>
            <a:ext cx="16383000" cy="9525"/>
          </a:xfrm>
          <a:prstGeom prst="rect">
            <a:avLst/>
          </a:prstGeom>
          <a:solidFill>
            <a:srgbClr val="D9E0E9"/>
          </a:solidFill>
          <a:ln/>
        </p:spPr>
      </p:sp>
      <p:sp>
        <p:nvSpPr>
          <p:cNvPr id="17" name="Shape 15"/>
          <p:cNvSpPr/>
          <p:nvPr/>
        </p:nvSpPr>
        <p:spPr>
          <a:xfrm>
            <a:off x="952500" y="6560820"/>
            <a:ext cx="45720" cy="2289810"/>
          </a:xfrm>
          <a:prstGeom prst="rect">
            <a:avLst/>
          </a:prstGeom>
          <a:solidFill>
            <a:srgbClr val="8CA0B5"/>
          </a:solidFill>
          <a:ln/>
        </p:spPr>
      </p:sp>
      <p:sp>
        <p:nvSpPr>
          <p:cNvPr id="18" name="Text 16"/>
          <p:cNvSpPr/>
          <p:nvPr/>
        </p:nvSpPr>
        <p:spPr>
          <a:xfrm>
            <a:off x="1226820" y="6598920"/>
            <a:ext cx="3835289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5A6B7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현재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226820" y="6983730"/>
            <a:ext cx="3591225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구성요소별 소규모 PoC 다수 완료 — 지식 RAG · 텍스트 라이브 제어 · AI-AE(실차 검증) · 하중이력 분석 · 세션 브리지 · 도구 실행 연동 · 최적화(치수·위상)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961097" y="6560820"/>
            <a:ext cx="4357211" cy="2289810"/>
          </a:xfrm>
          <a:prstGeom prst="rect">
            <a:avLst/>
          </a:prstGeom>
          <a:solidFill>
            <a:srgbClr val="EDF3FB"/>
          </a:solidFill>
          <a:ln/>
        </p:spPr>
      </p:sp>
      <p:sp>
        <p:nvSpPr>
          <p:cNvPr id="21" name="Shape 19"/>
          <p:cNvSpPr/>
          <p:nvPr/>
        </p:nvSpPr>
        <p:spPr>
          <a:xfrm>
            <a:off x="4961097" y="6560820"/>
            <a:ext cx="45720" cy="2289810"/>
          </a:xfrm>
          <a:prstGeom prst="rect">
            <a:avLst/>
          </a:prstGeom>
          <a:solidFill>
            <a:srgbClr val="1B66D6"/>
          </a:solidFill>
          <a:ln/>
        </p:spPr>
      </p:sp>
      <p:sp>
        <p:nvSpPr>
          <p:cNvPr id="22" name="Text 20"/>
          <p:cNvSpPr/>
          <p:nvPr/>
        </p:nvSpPr>
        <p:spPr>
          <a:xfrm>
            <a:off x="5235416" y="6598920"/>
            <a:ext cx="4218765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24A9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Phase 1 — 본 과제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5235416" y="6983730"/>
            <a:ext cx="3950298" cy="1501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2636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대표 프로세스 2종 순차 검증(구조강도 → 샤시 피로) · 하네스→실행→게이트→환류 루프 엔드투엔드 검증 · 실측 지표 5종으로 1차 효과 정량 확정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318307" y="6560820"/>
            <a:ext cx="45720" cy="2289810"/>
          </a:xfrm>
          <a:prstGeom prst="rect">
            <a:avLst/>
          </a:prstGeom>
          <a:solidFill>
            <a:srgbClr val="8CA0B5"/>
          </a:solidFill>
          <a:ln/>
        </p:spPr>
      </p:sp>
      <p:sp>
        <p:nvSpPr>
          <p:cNvPr id="25" name="Text 23"/>
          <p:cNvSpPr/>
          <p:nvPr/>
        </p:nvSpPr>
        <p:spPr>
          <a:xfrm>
            <a:off x="9592628" y="6598920"/>
            <a:ext cx="3835289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5A6B7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Phase 2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9592628" y="6983730"/>
            <a:ext cx="3591225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구조/피로 업무 전반 확장 · 비전문가 셀프서비스 모드 오픈(설계·시험)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3326904" y="6560820"/>
            <a:ext cx="45720" cy="2289810"/>
          </a:xfrm>
          <a:prstGeom prst="rect">
            <a:avLst/>
          </a:prstGeom>
          <a:solidFill>
            <a:srgbClr val="8CA0B5"/>
          </a:solidFill>
          <a:ln/>
        </p:spPr>
      </p:sp>
      <p:sp>
        <p:nvSpPr>
          <p:cNvPr id="28" name="Text 26"/>
          <p:cNvSpPr/>
          <p:nvPr/>
        </p:nvSpPr>
        <p:spPr>
          <a:xfrm>
            <a:off x="13601224" y="6598920"/>
            <a:ext cx="3835289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5A6B7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Phase 3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3601224" y="6983730"/>
            <a:ext cx="3591225" cy="1135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타 CAE 도메인(NVH·충돌·열유동) · 표준 문서 기반 업무 전반으로 하네스 방법론 이식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52500" y="9098280"/>
            <a:ext cx="16874490" cy="61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A6B7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확산 3축 — </a:t>
            </a:r>
            <a:pPr algn="l" indent="0" marL="0">
              <a:buNone/>
            </a:pPr>
            <a:r>
              <a:rPr lang="en-US" sz="1875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프로세스 확장</a:t>
            </a:r>
            <a:pPr algn="l" indent="0" marL="0">
              <a:buNone/>
            </a:pPr>
            <a:r>
              <a:rPr lang="en-US" sz="1875" dirty="0">
                <a:solidFill>
                  <a:srgbClr val="5A6B7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(검증 방법론의 구조/피로 전이) · </a:t>
            </a:r>
            <a:pPr algn="l" indent="0" marL="0">
              <a:buNone/>
            </a:pPr>
            <a:r>
              <a:rPr lang="en-US" sz="1875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도메인 확장</a:t>
            </a:r>
            <a:pPr algn="l" indent="0" marL="0">
              <a:buNone/>
            </a:pPr>
            <a:r>
              <a:rPr lang="en-US" sz="1875" dirty="0">
                <a:solidFill>
                  <a:srgbClr val="5A6B7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(표준 문서가 있는 모든 프로세스) · </a:t>
            </a:r>
            <a:pPr algn="l" indent="0" marL="0">
              <a:buNone/>
            </a:pPr>
            <a:r>
              <a:rPr lang="en-US" sz="1875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역할 확장 </a:t>
            </a:r>
            <a:pPr algn="l" indent="0" marL="0">
              <a:buNone/>
            </a:pPr>
            <a:r>
              <a:rPr lang="en-US" sz="1875" dirty="0">
                <a:solidFill>
                  <a:srgbClr val="5A6B7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(해석팀 → 설계·시험 셀프서비스) — 축적된 하네스는 적정 설계(right-sizing)·여유도 스캔으로 확장</a:t>
            </a:r>
            <a:endParaRPr lang="en-US" sz="18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3. 기대효과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211580"/>
            <a:ext cx="18021300" cy="651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기대효과 — 연간 약 1,700시간의 구조적 절감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205990"/>
            <a:ext cx="16383000" cy="1104900"/>
          </a:xfrm>
          <a:prstGeom prst="roundRect">
            <a:avLst>
              <a:gd name="adj" fmla="val 12069"/>
            </a:avLst>
          </a:prstGeom>
          <a:solidFill>
            <a:srgbClr val="0E1B2C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609850"/>
            <a:ext cx="1430834" cy="3352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FB0F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1차 효과 산정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939058" y="2590800"/>
            <a:ext cx="2403539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무개입 완주율 80%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5390793" y="2590800"/>
            <a:ext cx="24943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4A668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×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5830729" y="2590800"/>
            <a:ext cx="222371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건당 약 7시간 절감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8118991" y="2590800"/>
            <a:ext cx="24943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4A668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×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8558927" y="2590800"/>
            <a:ext cx="115871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연 300건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908143" y="2590800"/>
            <a:ext cx="24943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4A668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≈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10348079" y="2529840"/>
            <a:ext cx="3950279" cy="495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FA8F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연 1,700시간 </a:t>
            </a:r>
            <a:pPr algn="l" indent="0" marL="0">
              <a:buNone/>
            </a:pPr>
            <a:r>
              <a:rPr lang="en-US" sz="2100" b="1" dirty="0">
                <a:solidFill>
                  <a:srgbClr val="9DB2C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(약 210인일)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52500" y="3463290"/>
            <a:ext cx="180213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5A6B7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보수적 추정 범위 약 1,150~2,300시간 · Phase 1 실측 확정 — 무개입 완주율은 반복 실행 단계의 지표이며, 공식 판정·설계 반영은 해석 엔지니어의 마일스톤 승인 후 진행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4122420"/>
            <a:ext cx="5308521" cy="2632710"/>
          </a:xfrm>
          <a:prstGeom prst="roundRect">
            <a:avLst>
              <a:gd name="adj" fmla="val 5065"/>
            </a:avLst>
          </a:prstGeom>
          <a:solidFill>
            <a:srgbClr val="EDF3FB"/>
          </a:solidFill>
          <a:ln w="7620">
            <a:solidFill>
              <a:srgbClr val="BFD6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4920" y="4415790"/>
            <a:ext cx="5152049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24A9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1차 — 절감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326833" y="4857750"/>
            <a:ext cx="4697968" cy="1252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6688" indent="-166688">
              <a:lnSpc>
                <a:spcPct val="170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2636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해석 맨아워·리드타임 절감</a:t>
            </a:r>
            <a:endParaRPr lang="en-US" sz="1875" dirty="0"/>
          </a:p>
          <a:p>
            <a:pPr algn="l" marL="166688" indent="-166688">
              <a:lnSpc>
                <a:spcPct val="170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2636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설계 협의 자료 초안 자동 생성 — 협의 준비 시간 추가 절감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6489621" y="4122420"/>
            <a:ext cx="5308640" cy="2632710"/>
          </a:xfrm>
          <a:prstGeom prst="roundRect">
            <a:avLst>
              <a:gd name="adj" fmla="val 5065"/>
            </a:avLst>
          </a:prstGeom>
          <a:solidFill>
            <a:srgbClr val="F4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6794421" y="4408170"/>
            <a:ext cx="5168944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2차 — 품질·설계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6856333" y="4850130"/>
            <a:ext cx="4713327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6688" indent="-166688">
              <a:lnSpc>
                <a:spcPct val="170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2636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재작업 감소 — 게이트 1회 통과율로 측정</a:t>
            </a:r>
            <a:endParaRPr lang="en-US" sz="1875" dirty="0"/>
          </a:p>
          <a:p>
            <a:pPr algn="l" marL="166688" indent="-166688">
              <a:lnSpc>
                <a:spcPct val="170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2636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과도설계 감소 — 중량·원가</a:t>
            </a:r>
            <a:endParaRPr lang="en-US" sz="1875" dirty="0"/>
          </a:p>
          <a:p>
            <a:pPr algn="l" marL="166688" indent="-166688">
              <a:lnSpc>
                <a:spcPct val="170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2636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최적화 검증 케이스 60% 감소 (실차 PoC 실측)</a:t>
            </a:r>
            <a:endParaRPr lang="en-US" sz="1875" dirty="0"/>
          </a:p>
          <a:p>
            <a:pPr algn="l" marL="166688" indent="-166688">
              <a:lnSpc>
                <a:spcPct val="170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2636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경험 편차 없는 균질한 산출물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2026860" y="4122420"/>
            <a:ext cx="5308640" cy="2632710"/>
          </a:xfrm>
          <a:prstGeom prst="roundRect">
            <a:avLst>
              <a:gd name="adj" fmla="val 5065"/>
            </a:avLst>
          </a:prstGeom>
          <a:solidFill>
            <a:srgbClr val="F4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12331660" y="4408170"/>
            <a:ext cx="5168944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3차 — 조직·자산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2393573" y="4850130"/>
            <a:ext cx="4713327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6688" indent="-166688">
              <a:lnSpc>
                <a:spcPct val="170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2636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신규 인력 온보딩 단축</a:t>
            </a:r>
            <a:endParaRPr lang="en-US" sz="1875" dirty="0"/>
          </a:p>
          <a:p>
            <a:pPr algn="l" marL="166688" indent="-166688">
              <a:lnSpc>
                <a:spcPct val="170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2636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암묵지의 형식지 자산화 — 사례 카드·위키</a:t>
            </a:r>
            <a:endParaRPr lang="en-US" sz="1875" dirty="0"/>
          </a:p>
          <a:p>
            <a:pPr algn="l" marL="166688" indent="-166688">
              <a:lnSpc>
                <a:spcPct val="170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2636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해석 의뢰 대기 감소 (프론트로딩)</a:t>
            </a:r>
            <a:endParaRPr lang="en-US" sz="1875" dirty="0"/>
          </a:p>
          <a:p>
            <a:pPr algn="l" marL="166688" indent="-166688">
              <a:lnSpc>
                <a:spcPct val="170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2636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경량화·원가절감 후보 발굴 (여유도 스캔)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952500" y="9136380"/>
            <a:ext cx="16383000" cy="9525"/>
          </a:xfrm>
          <a:prstGeom prst="rect">
            <a:avLst/>
          </a:prstGeom>
          <a:solidFill>
            <a:srgbClr val="D9E0E9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9380220"/>
            <a:ext cx="4474154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같은 시스템이 내년에는 더 많이 절감한다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5400913" y="9372600"/>
            <a:ext cx="1298751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B7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28배·60%·6°는 실차 PoC 실측치 / 완주율 80%·건당 7시간은 Phase 1 실측 확정 목표치 — 강건화 지표 상승 = 무개입 완주율 상승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1B66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4. 인풋데이터 유형 / 아웃풋 유형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211580"/>
            <a:ext cx="18021300" cy="651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인풋데이터 유형 / 아웃풋 유형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727960"/>
            <a:ext cx="8001000" cy="22860"/>
          </a:xfrm>
          <a:prstGeom prst="rect">
            <a:avLst/>
          </a:prstGeom>
          <a:solidFill>
            <a:srgbClr val="1B66D6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282190"/>
            <a:ext cx="824103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24A9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인풋데이터 — 전량 사내 자산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2922270"/>
            <a:ext cx="8001000" cy="1139190"/>
          </a:xfrm>
          <a:prstGeom prst="roundRect">
            <a:avLst>
              <a:gd name="adj" fmla="val 10033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3131820"/>
            <a:ext cx="817245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사내 비정형 문서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238250" y="3497580"/>
            <a:ext cx="81724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해석 업무표준·가이드, 과거 해석 보고서 — 하네스·사례 카드의 원천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4232910"/>
            <a:ext cx="8001000" cy="1139190"/>
          </a:xfrm>
          <a:prstGeom prst="roundRect">
            <a:avLst>
              <a:gd name="adj" fmla="val 10033"/>
            </a:avLst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1238250" y="4442460"/>
            <a:ext cx="817245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사내 시스템 데이터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238250" y="4808220"/>
            <a:ext cx="81724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해석 모델·인풋덱, 하중신호(하중이력), 실행 로그, 과거 해석 결과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2500" y="5543550"/>
            <a:ext cx="8001000" cy="1139190"/>
          </a:xfrm>
          <a:prstGeom prst="roundRect">
            <a:avLst>
              <a:gd name="adj" fmla="val 10033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5753100"/>
            <a:ext cx="817245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사용자 직접 입력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238250" y="6118860"/>
            <a:ext cx="81724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자연어 해석 지시·질문, 승인·반려 판단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52500" y="6854190"/>
            <a:ext cx="8001000" cy="1154430"/>
          </a:xfrm>
          <a:prstGeom prst="roundRect">
            <a:avLst>
              <a:gd name="adj" fmla="val 9901"/>
            </a:avLst>
          </a:prstGeom>
          <a:solidFill>
            <a:srgbClr val="EDF3FB"/>
          </a:solidFill>
          <a:ln w="7620">
            <a:solidFill>
              <a:srgbClr val="BFD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5870" y="7071360"/>
            <a:ext cx="8155686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24A9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사외 데이터 — 없음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245870" y="7437120"/>
            <a:ext cx="8155686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2636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 과정이 사내 자산만으로 구동 (보안 강점)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334500" y="2727960"/>
            <a:ext cx="8001000" cy="22860"/>
          </a:xfrm>
          <a:prstGeom prst="rect">
            <a:avLst/>
          </a:prstGeom>
          <a:solidFill>
            <a:srgbClr val="1B66D6"/>
          </a:solidFill>
          <a:ln/>
        </p:spPr>
      </p:sp>
      <p:sp>
        <p:nvSpPr>
          <p:cNvPr id="19" name="Text 17"/>
          <p:cNvSpPr/>
          <p:nvPr/>
        </p:nvSpPr>
        <p:spPr>
          <a:xfrm>
            <a:off x="9334500" y="2282190"/>
            <a:ext cx="824103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24A9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아웃풋 — 6개 유형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334500" y="2922270"/>
            <a:ext cx="8001000" cy="723900"/>
          </a:xfrm>
          <a:prstGeom prst="roundRect">
            <a:avLst>
              <a:gd name="adj" fmla="val 15789"/>
            </a:avLst>
          </a:prstGeom>
          <a:solidFill>
            <a:srgbClr val="F4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9620250" y="3135630"/>
            <a:ext cx="1990725" cy="327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데이터 생성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1620500" y="3112770"/>
            <a:ext cx="547894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해석 모델·인풋덱, 표준 양식 보고서, 설계 협의 자료 초안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334500" y="3817620"/>
            <a:ext cx="8001000" cy="723900"/>
          </a:xfrm>
          <a:prstGeom prst="roundRect">
            <a:avLst>
              <a:gd name="adj" fmla="val 15789"/>
            </a:avLst>
          </a:prstGeom>
          <a:solidFill>
            <a:srgbClr val="F4F7FA"/>
          </a:solidFill>
          <a:ln/>
        </p:spPr>
      </p:sp>
      <p:sp>
        <p:nvSpPr>
          <p:cNvPr id="24" name="Text 22"/>
          <p:cNvSpPr/>
          <p:nvPr/>
        </p:nvSpPr>
        <p:spPr>
          <a:xfrm>
            <a:off x="9620250" y="4030980"/>
            <a:ext cx="1990725" cy="327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구조화 데이터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1620500" y="4008120"/>
            <a:ext cx="35501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해석 결과 정리, 지식 위키, 사례 카드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334500" y="4712970"/>
            <a:ext cx="8001000" cy="723900"/>
          </a:xfrm>
          <a:prstGeom prst="roundRect">
            <a:avLst>
              <a:gd name="adj" fmla="val 15789"/>
            </a:avLst>
          </a:prstGeom>
          <a:solidFill>
            <a:srgbClr val="F4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9620250" y="4926330"/>
            <a:ext cx="1990725" cy="327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수치·최적화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1620500" y="4903470"/>
            <a:ext cx="396573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치수·형상·위상 최적안 (수치최적화 엔진)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334500" y="5608320"/>
            <a:ext cx="8001000" cy="723900"/>
          </a:xfrm>
          <a:prstGeom prst="roundRect">
            <a:avLst>
              <a:gd name="adj" fmla="val 15789"/>
            </a:avLst>
          </a:prstGeom>
          <a:solidFill>
            <a:srgbClr val="F4F7FA"/>
          </a:solidFill>
          <a:ln/>
        </p:spPr>
      </p:sp>
      <p:sp>
        <p:nvSpPr>
          <p:cNvPr id="30" name="Text 28"/>
          <p:cNvSpPr/>
          <p:nvPr/>
        </p:nvSpPr>
        <p:spPr>
          <a:xfrm>
            <a:off x="9620250" y="5821680"/>
            <a:ext cx="1990725" cy="327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추천·스코어링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11620500" y="5798820"/>
            <a:ext cx="50701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유사 사례 검색, 여유도 스캔의 경량화 후보 우선순위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334500" y="6503670"/>
            <a:ext cx="8001000" cy="723900"/>
          </a:xfrm>
          <a:prstGeom prst="roundRect">
            <a:avLst>
              <a:gd name="adj" fmla="val 15789"/>
            </a:avLst>
          </a:prstGeom>
          <a:solidFill>
            <a:srgbClr val="F4F7FA"/>
          </a:solidFill>
          <a:ln/>
        </p:spPr>
      </p:sp>
      <p:sp>
        <p:nvSpPr>
          <p:cNvPr id="33" name="Text 31"/>
          <p:cNvSpPr/>
          <p:nvPr/>
        </p:nvSpPr>
        <p:spPr>
          <a:xfrm>
            <a:off x="9620250" y="6717030"/>
            <a:ext cx="1990725" cy="327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추출·인식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11620500" y="6694170"/>
            <a:ext cx="385742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보고서·실행 로그·인풋덱 핵심 정보 추출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334500" y="7399020"/>
            <a:ext cx="8001000" cy="1066800"/>
          </a:xfrm>
          <a:prstGeom prst="roundRect">
            <a:avLst>
              <a:gd name="adj" fmla="val 10714"/>
            </a:avLst>
          </a:prstGeom>
          <a:solidFill>
            <a:srgbClr val="F4F7FA"/>
          </a:solidFill>
          <a:ln/>
        </p:spPr>
      </p:sp>
      <p:sp>
        <p:nvSpPr>
          <p:cNvPr id="36" name="Text 34"/>
          <p:cNvSpPr/>
          <p:nvPr/>
        </p:nvSpPr>
        <p:spPr>
          <a:xfrm>
            <a:off x="9620250" y="7612380"/>
            <a:ext cx="1990725" cy="327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621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이상 감지·알람</a:t>
            </a:r>
            <a:endParaRPr lang="en-US" sz="1875" dirty="0"/>
          </a:p>
        </p:txBody>
      </p:sp>
      <p:sp>
        <p:nvSpPr>
          <p:cNvPr id="37" name="Text 35"/>
          <p:cNvSpPr/>
          <p:nvPr/>
        </p:nvSpPr>
        <p:spPr>
          <a:xfrm>
            <a:off x="11620500" y="7589520"/>
            <a:ext cx="559212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D4C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게이트의 표준·물리 타당성 위반 검출·차단 알림, 에러 자가복구 보고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2026-07-02T12:09:43Z</dcterms:created>
  <dcterms:modified xsi:type="dcterms:W3CDTF">2026-07-02T12:09:43Z</dcterms:modified>
</cp:coreProperties>
</file>