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9.png"/><Relationship Id="rId22" Type="http://schemas.openxmlformats.org/officeDocument/2006/relationships/image" Target="../media/image16.png"/><Relationship Id="rId21" Type="http://schemas.openxmlformats.org/officeDocument/2006/relationships/image" Target="../media/image31.png"/><Relationship Id="rId24" Type="http://schemas.openxmlformats.org/officeDocument/2006/relationships/image" Target="../media/image20.png"/><Relationship Id="rId23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8.png"/><Relationship Id="rId26" Type="http://schemas.openxmlformats.org/officeDocument/2006/relationships/image" Target="../media/image27.png"/><Relationship Id="rId25" Type="http://schemas.openxmlformats.org/officeDocument/2006/relationships/image" Target="../media/image26.png"/><Relationship Id="rId28" Type="http://schemas.openxmlformats.org/officeDocument/2006/relationships/image" Target="../media/image25.png"/><Relationship Id="rId27" Type="http://schemas.openxmlformats.org/officeDocument/2006/relationships/image" Target="../media/image24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29" Type="http://schemas.openxmlformats.org/officeDocument/2006/relationships/image" Target="../media/image22.png"/><Relationship Id="rId7" Type="http://schemas.openxmlformats.org/officeDocument/2006/relationships/image" Target="../media/image10.png"/><Relationship Id="rId8" Type="http://schemas.openxmlformats.org/officeDocument/2006/relationships/image" Target="../media/image7.png"/><Relationship Id="rId31" Type="http://schemas.openxmlformats.org/officeDocument/2006/relationships/image" Target="../media/image30.png"/><Relationship Id="rId30" Type="http://schemas.openxmlformats.org/officeDocument/2006/relationships/image" Target="../media/image32.png"/><Relationship Id="rId11" Type="http://schemas.openxmlformats.org/officeDocument/2006/relationships/image" Target="../media/image5.png"/><Relationship Id="rId33" Type="http://schemas.openxmlformats.org/officeDocument/2006/relationships/image" Target="../media/image23.png"/><Relationship Id="rId10" Type="http://schemas.openxmlformats.org/officeDocument/2006/relationships/image" Target="../media/image11.png"/><Relationship Id="rId32" Type="http://schemas.openxmlformats.org/officeDocument/2006/relationships/image" Target="../media/image28.png"/><Relationship Id="rId13" Type="http://schemas.openxmlformats.org/officeDocument/2006/relationships/image" Target="../media/image13.png"/><Relationship Id="rId12" Type="http://schemas.openxmlformats.org/officeDocument/2006/relationships/image" Target="../media/image9.png"/><Relationship Id="rId34" Type="http://schemas.openxmlformats.org/officeDocument/2006/relationships/image" Target="../media/image29.png"/><Relationship Id="rId15" Type="http://schemas.openxmlformats.org/officeDocument/2006/relationships/image" Target="../media/image3.png"/><Relationship Id="rId14" Type="http://schemas.openxmlformats.org/officeDocument/2006/relationships/image" Target="../media/image14.png"/><Relationship Id="rId17" Type="http://schemas.openxmlformats.org/officeDocument/2006/relationships/image" Target="../media/image18.png"/><Relationship Id="rId16" Type="http://schemas.openxmlformats.org/officeDocument/2006/relationships/image" Target="../media/image21.png"/><Relationship Id="rId19" Type="http://schemas.openxmlformats.org/officeDocument/2006/relationships/image" Target="../media/image15.png"/><Relationship Id="rId18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5928121"/>
            <a:ext cx="11430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1927621"/>
            <a:ext cx="2381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9750" y="1927621"/>
            <a:ext cx="2381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0525" y="5937646"/>
            <a:ext cx="123825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0050" y="1946671"/>
            <a:ext cx="23431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09975" y="1927621"/>
            <a:ext cx="49720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33750" y="2651521"/>
            <a:ext cx="5524500" cy="33374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48800" y="1946671"/>
            <a:ext cx="23431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352800" y="2670571"/>
            <a:ext cx="548640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495675" y="4798367"/>
            <a:ext cx="520065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495675" y="3280171"/>
            <a:ext cx="156016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315694" y="3280171"/>
            <a:ext cx="156016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135713" y="3280171"/>
            <a:ext cx="156016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/>
        </p:nvSpPr>
        <p:spPr>
          <a:xfrm>
            <a:off x="381000" y="942975"/>
            <a:ext cx="11430000" cy="746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2A60"/>
                </a:solidFill>
                <a:latin typeface="Arial"/>
                <a:ea typeface="Arial"/>
                <a:cs typeface="Arial"/>
                <a:sym typeface="Arial"/>
              </a:rPr>
              <a:t>AI 에이전트가 CAE 해석 프로세스를 엔드투엔드 자동화하고,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100" u="none" cap="none" strike="noStrike">
                <a:solidFill>
                  <a:srgbClr val="112A60"/>
                </a:solidFill>
                <a:latin typeface="Arial"/>
                <a:ea typeface="Arial"/>
                <a:cs typeface="Arial"/>
                <a:sym typeface="Arial"/>
              </a:rPr>
              <a:t> 하네스와 3중 게이트로 신뢰를 확보하여 리소스·시간을 구조적으로 절감한다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381000" y="285750"/>
            <a:ext cx="11811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(필수) 제안내용</a:t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>
            <a:off x="3429000" y="2070496"/>
            <a:ext cx="285750" cy="428625"/>
          </a:xfrm>
          <a:prstGeom prst="rect">
            <a:avLst/>
          </a:prstGeom>
          <a:noFill/>
          <a:ln cap="flat" cmpd="sng" w="19050">
            <a:solidFill>
              <a:srgbClr val="112A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8477250" y="2070496"/>
            <a:ext cx="285750" cy="428625"/>
          </a:xfrm>
          <a:prstGeom prst="rect">
            <a:avLst/>
          </a:prstGeom>
          <a:noFill/>
          <a:ln cap="flat" cmpd="sng" w="19050">
            <a:solidFill>
              <a:srgbClr val="112A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3333750" y="2432446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12A60"/>
                </a:solidFill>
                <a:latin typeface="Arial"/>
                <a:ea typeface="Arial"/>
                <a:cs typeface="Arial"/>
                <a:sym typeface="Arial"/>
              </a:rPr>
              <a:t>지시·질문·결과 확인·승인(마일스톤)</a:t>
            </a:r>
            <a:endParaRPr/>
          </a:p>
        </p:txBody>
      </p:sp>
      <p:pic>
        <p:nvPicPr>
          <p:cNvPr descr="image.png" id="102" name="Google Shape;102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954785" y="6261496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534251" y="6261496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3"/>
          <p:cNvSpPr/>
          <p:nvPr/>
        </p:nvSpPr>
        <p:spPr>
          <a:xfrm>
            <a:off x="542925" y="4372421"/>
            <a:ext cx="2057400" cy="9525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3990975" y="2022871"/>
            <a:ext cx="44958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단일 대화 인터페이스 (CAE 코파일럿)</a:t>
            </a:r>
            <a:endParaRPr/>
          </a:p>
        </p:txBody>
      </p:sp>
      <p:sp>
        <p:nvSpPr>
          <p:cNvPr id="106" name="Google Shape;106;p13"/>
          <p:cNvSpPr/>
          <p:nvPr/>
        </p:nvSpPr>
        <p:spPr>
          <a:xfrm>
            <a:off x="9591675" y="4247554"/>
            <a:ext cx="2057400" cy="9525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7" name="Google Shape;107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131516" y="6175771"/>
            <a:ext cx="36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750718" y="6175771"/>
            <a:ext cx="36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9330183" y="6175771"/>
            <a:ext cx="4572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542925" y="2775346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542925" y="3298180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542925" y="3821013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3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542925" y="4591496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3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4666208" y="2027634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3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5100042" y="372963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3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6920061" y="3729632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3"/>
          <p:cNvSpPr txBox="1"/>
          <p:nvPr/>
        </p:nvSpPr>
        <p:spPr>
          <a:xfrm>
            <a:off x="3600450" y="4903142"/>
            <a:ext cx="49911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3873D"/>
                </a:solidFill>
                <a:latin typeface="Arial"/>
                <a:ea typeface="Arial"/>
                <a:cs typeface="Arial"/>
                <a:sym typeface="Arial"/>
              </a:rPr>
              <a:t>3중 검증 게이트 (환각·과도설계 차단)</a:t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2607766" y="6086326"/>
            <a:ext cx="180866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12A60"/>
                </a:solidFill>
                <a:latin typeface="Arial"/>
                <a:ea typeface="Arial"/>
                <a:cs typeface="Arial"/>
                <a:sym typeface="Arial"/>
              </a:rPr>
              <a:t>1차: 해석 리소스·시간 절감</a:t>
            </a:r>
            <a:endParaRPr/>
          </a:p>
        </p:txBody>
      </p:sp>
      <p:sp>
        <p:nvSpPr>
          <p:cNvPr id="119" name="Google Shape;119;p13"/>
          <p:cNvSpPr txBox="1"/>
          <p:nvPr/>
        </p:nvSpPr>
        <p:spPr>
          <a:xfrm>
            <a:off x="6226968" y="6086326"/>
            <a:ext cx="1766939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12A60"/>
                </a:solidFill>
                <a:latin typeface="Arial"/>
                <a:ea typeface="Arial"/>
                <a:cs typeface="Arial"/>
                <a:sym typeface="Arial"/>
              </a:rPr>
              <a:t>2차: 재작업·과도설계 감소</a:t>
            </a:r>
            <a:endParaRPr/>
          </a:p>
        </p:txBody>
      </p:sp>
      <p:sp>
        <p:nvSpPr>
          <p:cNvPr id="120" name="Google Shape;120;p13"/>
          <p:cNvSpPr txBox="1"/>
          <p:nvPr/>
        </p:nvSpPr>
        <p:spPr>
          <a:xfrm>
            <a:off x="9901683" y="6086326"/>
            <a:ext cx="146690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12A60"/>
                </a:solidFill>
                <a:latin typeface="Arial"/>
                <a:ea typeface="Arial"/>
                <a:cs typeface="Arial"/>
                <a:sym typeface="Arial"/>
              </a:rPr>
              <a:t>3차: 지식 자산화·확산</a:t>
            </a:r>
            <a:endParaRPr/>
          </a:p>
        </p:txBody>
      </p:sp>
      <p:sp>
        <p:nvSpPr>
          <p:cNvPr id="121" name="Google Shape;121;p13"/>
          <p:cNvSpPr txBox="1"/>
          <p:nvPr/>
        </p:nvSpPr>
        <p:spPr>
          <a:xfrm>
            <a:off x="942975" y="2756296"/>
            <a:ext cx="1235779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업무표준·가이드</a:t>
            </a:r>
            <a:endParaRPr/>
          </a:p>
        </p:txBody>
      </p:sp>
      <p:sp>
        <p:nvSpPr>
          <p:cNvPr id="122" name="Google Shape;122;p13"/>
          <p:cNvSpPr txBox="1"/>
          <p:nvPr/>
        </p:nvSpPr>
        <p:spPr>
          <a:xfrm>
            <a:off x="942975" y="3279130"/>
            <a:ext cx="1069664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과거 해석 경험</a:t>
            </a:r>
            <a:endParaRPr/>
          </a:p>
        </p:txBody>
      </p:sp>
      <p:sp>
        <p:nvSpPr>
          <p:cNvPr id="123" name="Google Shape;123;p13"/>
          <p:cNvSpPr txBox="1"/>
          <p:nvPr/>
        </p:nvSpPr>
        <p:spPr>
          <a:xfrm>
            <a:off x="942975" y="3801963"/>
            <a:ext cx="125015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인풋모델·실무자료</a:t>
            </a:r>
            <a:endParaRPr/>
          </a:p>
        </p:txBody>
      </p:sp>
      <p:sp>
        <p:nvSpPr>
          <p:cNvPr id="124" name="Google Shape;124;p13"/>
          <p:cNvSpPr txBox="1"/>
          <p:nvPr/>
        </p:nvSpPr>
        <p:spPr>
          <a:xfrm>
            <a:off x="942975" y="4572446"/>
            <a:ext cx="1199681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12A60"/>
                </a:solidFill>
                <a:latin typeface="Arial"/>
                <a:ea typeface="Arial"/>
                <a:cs typeface="Arial"/>
                <a:sym typeface="Arial"/>
              </a:rPr>
              <a:t>자가개선 루프</a:t>
            </a:r>
            <a:endParaRPr/>
          </a:p>
        </p:txBody>
      </p:sp>
      <p:pic>
        <p:nvPicPr>
          <p:cNvPr descr="image.png" id="125" name="Google Shape;125;p13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4104233" y="4350692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3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5943302" y="435069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7763321" y="435069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3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9591675" y="2918221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3"/>
          <p:cNvSpPr txBox="1"/>
          <p:nvPr/>
        </p:nvSpPr>
        <p:spPr>
          <a:xfrm>
            <a:off x="9886950" y="2851546"/>
            <a:ext cx="122247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12A60"/>
                </a:solidFill>
                <a:latin typeface="Arial"/>
                <a:ea typeface="Arial"/>
                <a:cs typeface="Arial"/>
                <a:sym typeface="Arial"/>
              </a:rPr>
              <a:t>마일스톤 승인 모드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112A60"/>
                </a:solidFill>
                <a:latin typeface="Arial"/>
                <a:ea typeface="Arial"/>
                <a:cs typeface="Arial"/>
                <a:sym typeface="Arial"/>
              </a:rPr>
              <a:t>(기본)</a:t>
            </a: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9686925" y="3308746"/>
            <a:ext cx="1962150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해석 엔지니어 검토·승인</a:t>
            </a:r>
            <a:endParaRPr/>
          </a:p>
        </p:txBody>
      </p:sp>
      <p:sp>
        <p:nvSpPr>
          <p:cNvPr id="131" name="Google Shape;131;p13"/>
          <p:cNvSpPr txBox="1"/>
          <p:nvPr/>
        </p:nvSpPr>
        <p:spPr>
          <a:xfrm>
            <a:off x="9686925" y="3510557"/>
            <a:ext cx="1962150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주요 마일스톤에서 개입</a:t>
            </a:r>
            <a:endParaRPr/>
          </a:p>
        </p:txBody>
      </p:sp>
      <p:sp>
        <p:nvSpPr>
          <p:cNvPr id="132" name="Google Shape;132;p13"/>
          <p:cNvSpPr txBox="1"/>
          <p:nvPr/>
        </p:nvSpPr>
        <p:spPr>
          <a:xfrm>
            <a:off x="9686925" y="3712368"/>
            <a:ext cx="1962150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승인/반려 사유는 하네스로 환류</a:t>
            </a:r>
            <a:endParaRPr/>
          </a:p>
        </p:txBody>
      </p:sp>
      <p:pic>
        <p:nvPicPr>
          <p:cNvPr descr="image.png" id="133" name="Google Shape;133;p13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9591675" y="4561879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3"/>
          <p:cNvSpPr txBox="1"/>
          <p:nvPr/>
        </p:nvSpPr>
        <p:spPr>
          <a:xfrm>
            <a:off x="9944100" y="4495204"/>
            <a:ext cx="93672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12A60"/>
                </a:solidFill>
                <a:latin typeface="Arial"/>
                <a:ea typeface="Arial"/>
                <a:cs typeface="Arial"/>
                <a:sym typeface="Arial"/>
              </a:rPr>
              <a:t>자동 진행 모드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112A60"/>
                </a:solidFill>
                <a:latin typeface="Arial"/>
                <a:ea typeface="Arial"/>
                <a:cs typeface="Arial"/>
                <a:sym typeface="Arial"/>
              </a:rPr>
              <a:t>(옵션)</a:t>
            </a:r>
            <a:endParaRPr/>
          </a:p>
        </p:txBody>
      </p:sp>
      <p:sp>
        <p:nvSpPr>
          <p:cNvPr id="135" name="Google Shape;135;p13"/>
          <p:cNvSpPr txBox="1"/>
          <p:nvPr/>
        </p:nvSpPr>
        <p:spPr>
          <a:xfrm>
            <a:off x="9686925" y="4952404"/>
            <a:ext cx="1962150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비전문가 셀프서비스</a:t>
            </a:r>
            <a:endParaRPr/>
          </a:p>
        </p:txBody>
      </p:sp>
      <p:sp>
        <p:nvSpPr>
          <p:cNvPr id="136" name="Google Shape;136;p13"/>
          <p:cNvSpPr txBox="1"/>
          <p:nvPr/>
        </p:nvSpPr>
        <p:spPr>
          <a:xfrm>
            <a:off x="9686925" y="5154215"/>
            <a:ext cx="1962150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3중 게이트 상시 작동</a:t>
            </a:r>
            <a:endParaRPr/>
          </a:p>
        </p:txBody>
      </p:sp>
      <p:sp>
        <p:nvSpPr>
          <p:cNvPr id="137" name="Google Shape;137;p13"/>
          <p:cNvSpPr txBox="1"/>
          <p:nvPr/>
        </p:nvSpPr>
        <p:spPr>
          <a:xfrm>
            <a:off x="9686925" y="5356026"/>
            <a:ext cx="1962150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'사전검토용' 결과 제공</a:t>
            </a:r>
            <a:endParaRPr/>
          </a:p>
        </p:txBody>
      </p:sp>
      <p:sp>
        <p:nvSpPr>
          <p:cNvPr id="138" name="Google Shape;138;p13"/>
          <p:cNvSpPr txBox="1"/>
          <p:nvPr/>
        </p:nvSpPr>
        <p:spPr>
          <a:xfrm>
            <a:off x="9686925" y="5557837"/>
            <a:ext cx="1962150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공식 판정은 엔지니어 승인 필요</a:t>
            </a:r>
            <a:endParaRPr/>
          </a:p>
        </p:txBody>
      </p:sp>
      <p:sp>
        <p:nvSpPr>
          <p:cNvPr id="139" name="Google Shape;139;p13"/>
          <p:cNvSpPr txBox="1"/>
          <p:nvPr/>
        </p:nvSpPr>
        <p:spPr>
          <a:xfrm>
            <a:off x="2683966" y="6305401"/>
            <a:ext cx="1646336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무개입 완주율 향상</a:t>
            </a:r>
            <a:endParaRPr/>
          </a:p>
        </p:txBody>
      </p:sp>
      <p:sp>
        <p:nvSpPr>
          <p:cNvPr id="140" name="Google Shape;140;p13"/>
          <p:cNvSpPr txBox="1"/>
          <p:nvPr/>
        </p:nvSpPr>
        <p:spPr>
          <a:xfrm>
            <a:off x="2683966" y="6466284"/>
            <a:ext cx="1646336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전/후처리 맨아워 절감</a:t>
            </a:r>
            <a:endParaRPr/>
          </a:p>
        </p:txBody>
      </p:sp>
      <p:sp>
        <p:nvSpPr>
          <p:cNvPr id="141" name="Google Shape;141;p13"/>
          <p:cNvSpPr txBox="1"/>
          <p:nvPr/>
        </p:nvSpPr>
        <p:spPr>
          <a:xfrm>
            <a:off x="6303168" y="6305401"/>
            <a:ext cx="1606599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재작업 비용 감소</a:t>
            </a:r>
            <a:endParaRPr/>
          </a:p>
        </p:txBody>
      </p:sp>
      <p:sp>
        <p:nvSpPr>
          <p:cNvPr id="142" name="Google Shape;142;p13"/>
          <p:cNvSpPr txBox="1"/>
          <p:nvPr/>
        </p:nvSpPr>
        <p:spPr>
          <a:xfrm>
            <a:off x="6303168" y="6466284"/>
            <a:ext cx="1606599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중량·원가 최적화</a:t>
            </a:r>
            <a:endParaRPr/>
          </a:p>
        </p:txBody>
      </p:sp>
      <p:sp>
        <p:nvSpPr>
          <p:cNvPr id="143" name="Google Shape;143;p13"/>
          <p:cNvSpPr txBox="1"/>
          <p:nvPr/>
        </p:nvSpPr>
        <p:spPr>
          <a:xfrm>
            <a:off x="9977883" y="6305401"/>
            <a:ext cx="1320849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프론트로딩 실현</a:t>
            </a:r>
            <a:endParaRPr/>
          </a:p>
        </p:txBody>
      </p:sp>
      <p:sp>
        <p:nvSpPr>
          <p:cNvPr id="144" name="Google Shape;144;p13"/>
          <p:cNvSpPr txBox="1"/>
          <p:nvPr/>
        </p:nvSpPr>
        <p:spPr>
          <a:xfrm>
            <a:off x="9977883" y="6466284"/>
            <a:ext cx="1320849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타 조직/업무 확산</a:t>
            </a:r>
            <a:endParaRPr/>
          </a:p>
        </p:txBody>
      </p:sp>
      <p:sp>
        <p:nvSpPr>
          <p:cNvPr id="145" name="Google Shape;145;p13"/>
          <p:cNvSpPr txBox="1"/>
          <p:nvPr/>
        </p:nvSpPr>
        <p:spPr>
          <a:xfrm>
            <a:off x="1019175" y="2975371"/>
            <a:ext cx="1100732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표준 절차·판단 기준</a:t>
            </a:r>
            <a:endParaRPr/>
          </a:p>
        </p:txBody>
      </p:sp>
      <p:sp>
        <p:nvSpPr>
          <p:cNvPr id="146" name="Google Shape;146;p13"/>
          <p:cNvSpPr txBox="1"/>
          <p:nvPr/>
        </p:nvSpPr>
        <p:spPr>
          <a:xfrm>
            <a:off x="1019175" y="3498205"/>
            <a:ext cx="942528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사례 카드·보고서</a:t>
            </a:r>
            <a:endParaRPr/>
          </a:p>
        </p:txBody>
      </p:sp>
      <p:sp>
        <p:nvSpPr>
          <p:cNvPr id="147" name="Google Shape;147;p13"/>
          <p:cNvSpPr txBox="1"/>
          <p:nvPr/>
        </p:nvSpPr>
        <p:spPr>
          <a:xfrm>
            <a:off x="1019175" y="4021038"/>
            <a:ext cx="1114425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모델·하중·조건</a:t>
            </a:r>
            <a:endParaRPr/>
          </a:p>
        </p:txBody>
      </p:sp>
      <p:sp>
        <p:nvSpPr>
          <p:cNvPr id="148" name="Google Shape;148;p13"/>
          <p:cNvSpPr txBox="1"/>
          <p:nvPr/>
        </p:nvSpPr>
        <p:spPr>
          <a:xfrm>
            <a:off x="1019175" y="4791521"/>
            <a:ext cx="1066353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로그·에러복구 경험</a:t>
            </a:r>
            <a:endParaRPr/>
          </a:p>
        </p:txBody>
      </p:sp>
      <p:sp>
        <p:nvSpPr>
          <p:cNvPr id="149" name="Google Shape;149;p13"/>
          <p:cNvSpPr txBox="1"/>
          <p:nvPr/>
        </p:nvSpPr>
        <p:spPr>
          <a:xfrm>
            <a:off x="1019175" y="4952404"/>
            <a:ext cx="1066353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승인/반려 이력</a:t>
            </a:r>
            <a:endParaRPr/>
          </a:p>
        </p:txBody>
      </p:sp>
      <p:sp>
        <p:nvSpPr>
          <p:cNvPr id="150" name="Google Shape;150;p13"/>
          <p:cNvSpPr txBox="1"/>
          <p:nvPr/>
        </p:nvSpPr>
        <p:spPr>
          <a:xfrm>
            <a:off x="1019175" y="5113287"/>
            <a:ext cx="1066353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Q&amp;A 로그(지식 갭)</a:t>
            </a:r>
            <a:endParaRPr/>
          </a:p>
        </p:txBody>
      </p:sp>
      <p:sp>
        <p:nvSpPr>
          <p:cNvPr id="151" name="Google Shape;151;p13"/>
          <p:cNvSpPr txBox="1"/>
          <p:nvPr/>
        </p:nvSpPr>
        <p:spPr>
          <a:xfrm>
            <a:off x="3590925" y="3670696"/>
            <a:ext cx="1464915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HyperMesh</a:t>
            </a:r>
            <a:endParaRPr/>
          </a:p>
        </p:txBody>
      </p:sp>
      <p:sp>
        <p:nvSpPr>
          <p:cNvPr id="152" name="Google Shape;152;p13"/>
          <p:cNvSpPr txBox="1"/>
          <p:nvPr/>
        </p:nvSpPr>
        <p:spPr>
          <a:xfrm>
            <a:off x="3590925" y="3849737"/>
            <a:ext cx="1464915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모델 정합/수정</a:t>
            </a:r>
            <a:endParaRPr/>
          </a:p>
        </p:txBody>
      </p:sp>
      <p:sp>
        <p:nvSpPr>
          <p:cNvPr id="153" name="Google Shape;153;p13"/>
          <p:cNvSpPr txBox="1"/>
          <p:nvPr/>
        </p:nvSpPr>
        <p:spPr>
          <a:xfrm>
            <a:off x="3590925" y="4028777"/>
            <a:ext cx="1464915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하중·조건 분석</a:t>
            </a:r>
            <a:endParaRPr/>
          </a:p>
        </p:txBody>
      </p:sp>
      <p:sp>
        <p:nvSpPr>
          <p:cNvPr id="154" name="Google Shape;154;p13"/>
          <p:cNvSpPr txBox="1"/>
          <p:nvPr/>
        </p:nvSpPr>
        <p:spPr>
          <a:xfrm>
            <a:off x="5410944" y="3670696"/>
            <a:ext cx="1464915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Abaqus / Nastran</a:t>
            </a:r>
            <a:endParaRPr/>
          </a:p>
        </p:txBody>
      </p:sp>
      <p:sp>
        <p:nvSpPr>
          <p:cNvPr id="155" name="Google Shape;155;p13"/>
          <p:cNvSpPr txBox="1"/>
          <p:nvPr/>
        </p:nvSpPr>
        <p:spPr>
          <a:xfrm>
            <a:off x="5410944" y="3849737"/>
            <a:ext cx="1464915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nCode (피로해석)</a:t>
            </a:r>
            <a:endParaRPr/>
          </a:p>
        </p:txBody>
      </p:sp>
      <p:sp>
        <p:nvSpPr>
          <p:cNvPr id="156" name="Google Shape;156;p13"/>
          <p:cNvSpPr txBox="1"/>
          <p:nvPr/>
        </p:nvSpPr>
        <p:spPr>
          <a:xfrm>
            <a:off x="5410944" y="4028777"/>
            <a:ext cx="1464915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해석 서버 연계</a:t>
            </a:r>
            <a:endParaRPr/>
          </a:p>
        </p:txBody>
      </p:sp>
      <p:sp>
        <p:nvSpPr>
          <p:cNvPr id="157" name="Google Shape;157;p13"/>
          <p:cNvSpPr txBox="1"/>
          <p:nvPr/>
        </p:nvSpPr>
        <p:spPr>
          <a:xfrm>
            <a:off x="7230963" y="3670696"/>
            <a:ext cx="1464915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결과 시각화·분석</a:t>
            </a:r>
            <a:endParaRPr/>
          </a:p>
        </p:txBody>
      </p:sp>
      <p:sp>
        <p:nvSpPr>
          <p:cNvPr id="158" name="Google Shape;158;p13"/>
          <p:cNvSpPr txBox="1"/>
          <p:nvPr/>
        </p:nvSpPr>
        <p:spPr>
          <a:xfrm>
            <a:off x="7230963" y="3849737"/>
            <a:ext cx="1464915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보고서 작성</a:t>
            </a:r>
            <a:endParaRPr/>
          </a:p>
        </p:txBody>
      </p:sp>
      <p:sp>
        <p:nvSpPr>
          <p:cNvPr id="159" name="Google Shape;159;p13"/>
          <p:cNvSpPr txBox="1"/>
          <p:nvPr/>
        </p:nvSpPr>
        <p:spPr>
          <a:xfrm>
            <a:off x="7230963" y="4028777"/>
            <a:ext cx="1464915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협의 자료 초안</a:t>
            </a:r>
            <a:endParaRPr/>
          </a:p>
        </p:txBody>
      </p:sp>
      <p:sp>
        <p:nvSpPr>
          <p:cNvPr id="160" name="Google Shape;160;p13"/>
          <p:cNvSpPr txBox="1"/>
          <p:nvPr/>
        </p:nvSpPr>
        <p:spPr>
          <a:xfrm>
            <a:off x="4454872" y="5179367"/>
            <a:ext cx="19273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3873D"/>
                </a:solidFill>
                <a:latin typeface="Arial"/>
                <a:ea typeface="Arial"/>
                <a:cs typeface="Arial"/>
                <a:sym typeface="Arial"/>
              </a:rPr>
              <a:t>1층</a:t>
            </a:r>
            <a:endParaRPr/>
          </a:p>
        </p:txBody>
      </p:sp>
      <p:sp>
        <p:nvSpPr>
          <p:cNvPr id="161" name="Google Shape;161;p13"/>
          <p:cNvSpPr txBox="1"/>
          <p:nvPr/>
        </p:nvSpPr>
        <p:spPr>
          <a:xfrm>
            <a:off x="4049166" y="5417492"/>
            <a:ext cx="76601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13873D"/>
                </a:solidFill>
                <a:latin typeface="Arial"/>
                <a:ea typeface="Arial"/>
                <a:cs typeface="Arial"/>
                <a:sym typeface="Arial"/>
              </a:rPr>
              <a:t>하네스 문서 대조</a:t>
            </a:r>
            <a:endParaRPr/>
          </a:p>
        </p:txBody>
      </p:sp>
      <p:sp>
        <p:nvSpPr>
          <p:cNvPr id="162" name="Google Shape;162;p13"/>
          <p:cNvSpPr txBox="1"/>
          <p:nvPr/>
        </p:nvSpPr>
        <p:spPr>
          <a:xfrm>
            <a:off x="3954958" y="5579417"/>
            <a:ext cx="95428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표준 준수 자동 확인</a:t>
            </a:r>
            <a:endParaRPr/>
          </a:p>
        </p:txBody>
      </p:sp>
      <p:sp>
        <p:nvSpPr>
          <p:cNvPr id="163" name="Google Shape;163;p13"/>
          <p:cNvSpPr txBox="1"/>
          <p:nvPr/>
        </p:nvSpPr>
        <p:spPr>
          <a:xfrm>
            <a:off x="6118473" y="5179367"/>
            <a:ext cx="19273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3873D"/>
                </a:solidFill>
                <a:latin typeface="Arial"/>
                <a:ea typeface="Arial"/>
                <a:cs typeface="Arial"/>
                <a:sym typeface="Arial"/>
              </a:rPr>
              <a:t>2층</a:t>
            </a:r>
            <a:endParaRPr/>
          </a:p>
        </p:txBody>
      </p:sp>
      <p:sp>
        <p:nvSpPr>
          <p:cNvPr id="164" name="Google Shape;164;p13"/>
          <p:cNvSpPr txBox="1"/>
          <p:nvPr/>
        </p:nvSpPr>
        <p:spPr>
          <a:xfrm>
            <a:off x="5775424" y="5417492"/>
            <a:ext cx="64070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13873D"/>
                </a:solidFill>
                <a:latin typeface="Arial"/>
                <a:ea typeface="Arial"/>
                <a:cs typeface="Arial"/>
                <a:sym typeface="Arial"/>
              </a:rPr>
              <a:t>LLM 자기검토</a:t>
            </a:r>
            <a:endParaRPr/>
          </a:p>
        </p:txBody>
      </p:sp>
      <p:sp>
        <p:nvSpPr>
          <p:cNvPr id="165" name="Google Shape;165;p13"/>
          <p:cNvSpPr txBox="1"/>
          <p:nvPr/>
        </p:nvSpPr>
        <p:spPr>
          <a:xfrm>
            <a:off x="5733603" y="5579417"/>
            <a:ext cx="72419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추론 근거 점검</a:t>
            </a:r>
            <a:endParaRPr/>
          </a:p>
        </p:txBody>
      </p:sp>
      <p:sp>
        <p:nvSpPr>
          <p:cNvPr id="166" name="Google Shape;166;p13"/>
          <p:cNvSpPr txBox="1"/>
          <p:nvPr/>
        </p:nvSpPr>
        <p:spPr>
          <a:xfrm>
            <a:off x="7805886" y="5179367"/>
            <a:ext cx="19273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3873D"/>
                </a:solidFill>
                <a:latin typeface="Arial"/>
                <a:ea typeface="Arial"/>
                <a:cs typeface="Arial"/>
                <a:sym typeface="Arial"/>
              </a:rPr>
              <a:t>3층</a:t>
            </a:r>
            <a:endParaRPr/>
          </a:p>
        </p:txBody>
      </p:sp>
      <p:sp>
        <p:nvSpPr>
          <p:cNvPr id="167" name="Google Shape;167;p13"/>
          <p:cNvSpPr txBox="1"/>
          <p:nvPr/>
        </p:nvSpPr>
        <p:spPr>
          <a:xfrm>
            <a:off x="7258347" y="5417492"/>
            <a:ext cx="100191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13873D"/>
                </a:solidFill>
                <a:latin typeface="Arial"/>
                <a:ea typeface="Arial"/>
                <a:cs typeface="Arial"/>
                <a:sym typeface="Arial"/>
              </a:rPr>
              <a:t>물리 타당성·실적 검증</a:t>
            </a:r>
            <a:endParaRPr/>
          </a:p>
        </p:txBody>
      </p:sp>
      <p:sp>
        <p:nvSpPr>
          <p:cNvPr id="168" name="Google Shape;168;p13"/>
          <p:cNvSpPr txBox="1"/>
          <p:nvPr/>
        </p:nvSpPr>
        <p:spPr>
          <a:xfrm>
            <a:off x="7252989" y="5579417"/>
            <a:ext cx="1012626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물리법칙 + 실적 대조</a:t>
            </a:r>
            <a:endParaRPr/>
          </a:p>
        </p:txBody>
      </p:sp>
      <p:sp>
        <p:nvSpPr>
          <p:cNvPr id="169" name="Google Shape;169;p13"/>
          <p:cNvSpPr txBox="1"/>
          <p:nvPr/>
        </p:nvSpPr>
        <p:spPr>
          <a:xfrm>
            <a:off x="9591675" y="3308746"/>
            <a:ext cx="47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70" name="Google Shape;170;p13"/>
          <p:cNvSpPr txBox="1"/>
          <p:nvPr/>
        </p:nvSpPr>
        <p:spPr>
          <a:xfrm>
            <a:off x="9591675" y="3510557"/>
            <a:ext cx="47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71" name="Google Shape;171;p13"/>
          <p:cNvSpPr txBox="1"/>
          <p:nvPr/>
        </p:nvSpPr>
        <p:spPr>
          <a:xfrm>
            <a:off x="9591675" y="3712368"/>
            <a:ext cx="47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72" name="Google Shape;172;p13"/>
          <p:cNvSpPr txBox="1"/>
          <p:nvPr/>
        </p:nvSpPr>
        <p:spPr>
          <a:xfrm>
            <a:off x="9591675" y="4952404"/>
            <a:ext cx="47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73" name="Google Shape;173;p13"/>
          <p:cNvSpPr txBox="1"/>
          <p:nvPr/>
        </p:nvSpPr>
        <p:spPr>
          <a:xfrm>
            <a:off x="9591675" y="5154215"/>
            <a:ext cx="47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74" name="Google Shape;174;p13"/>
          <p:cNvSpPr txBox="1"/>
          <p:nvPr/>
        </p:nvSpPr>
        <p:spPr>
          <a:xfrm>
            <a:off x="9591675" y="5356026"/>
            <a:ext cx="47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75" name="Google Shape;175;p13"/>
          <p:cNvSpPr txBox="1"/>
          <p:nvPr/>
        </p:nvSpPr>
        <p:spPr>
          <a:xfrm>
            <a:off x="9591675" y="5557837"/>
            <a:ext cx="47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76" name="Google Shape;176;p13"/>
          <p:cNvSpPr txBox="1"/>
          <p:nvPr/>
        </p:nvSpPr>
        <p:spPr>
          <a:xfrm>
            <a:off x="2607766" y="6305401"/>
            <a:ext cx="47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77" name="Google Shape;177;p13"/>
          <p:cNvSpPr txBox="1"/>
          <p:nvPr/>
        </p:nvSpPr>
        <p:spPr>
          <a:xfrm>
            <a:off x="2607766" y="6466284"/>
            <a:ext cx="47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78" name="Google Shape;178;p13"/>
          <p:cNvSpPr txBox="1"/>
          <p:nvPr/>
        </p:nvSpPr>
        <p:spPr>
          <a:xfrm>
            <a:off x="6226968" y="6305401"/>
            <a:ext cx="47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79" name="Google Shape;179;p13"/>
          <p:cNvSpPr txBox="1"/>
          <p:nvPr/>
        </p:nvSpPr>
        <p:spPr>
          <a:xfrm>
            <a:off x="6226968" y="6466284"/>
            <a:ext cx="47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80" name="Google Shape;180;p13"/>
          <p:cNvSpPr txBox="1"/>
          <p:nvPr/>
        </p:nvSpPr>
        <p:spPr>
          <a:xfrm>
            <a:off x="9901683" y="6305401"/>
            <a:ext cx="47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81" name="Google Shape;181;p13"/>
          <p:cNvSpPr txBox="1"/>
          <p:nvPr/>
        </p:nvSpPr>
        <p:spPr>
          <a:xfrm>
            <a:off x="9901683" y="6466284"/>
            <a:ext cx="47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82" name="Google Shape;182;p13"/>
          <p:cNvSpPr txBox="1"/>
          <p:nvPr/>
        </p:nvSpPr>
        <p:spPr>
          <a:xfrm>
            <a:off x="942975" y="2975371"/>
            <a:ext cx="47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83" name="Google Shape;183;p13"/>
          <p:cNvSpPr txBox="1"/>
          <p:nvPr/>
        </p:nvSpPr>
        <p:spPr>
          <a:xfrm>
            <a:off x="942975" y="3498205"/>
            <a:ext cx="47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84" name="Google Shape;184;p13"/>
          <p:cNvSpPr txBox="1"/>
          <p:nvPr/>
        </p:nvSpPr>
        <p:spPr>
          <a:xfrm>
            <a:off x="942975" y="4021038"/>
            <a:ext cx="47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85" name="Google Shape;185;p13"/>
          <p:cNvSpPr txBox="1"/>
          <p:nvPr/>
        </p:nvSpPr>
        <p:spPr>
          <a:xfrm>
            <a:off x="942975" y="4791521"/>
            <a:ext cx="47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86" name="Google Shape;186;p13"/>
          <p:cNvSpPr txBox="1"/>
          <p:nvPr/>
        </p:nvSpPr>
        <p:spPr>
          <a:xfrm>
            <a:off x="942975" y="4952404"/>
            <a:ext cx="47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87" name="Google Shape;187;p13"/>
          <p:cNvSpPr txBox="1"/>
          <p:nvPr/>
        </p:nvSpPr>
        <p:spPr>
          <a:xfrm>
            <a:off x="942975" y="5113287"/>
            <a:ext cx="47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88" name="Google Shape;188;p13"/>
          <p:cNvSpPr txBox="1"/>
          <p:nvPr/>
        </p:nvSpPr>
        <p:spPr>
          <a:xfrm>
            <a:off x="3495675" y="3670696"/>
            <a:ext cx="381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2A6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89" name="Google Shape;189;p13"/>
          <p:cNvSpPr txBox="1"/>
          <p:nvPr/>
        </p:nvSpPr>
        <p:spPr>
          <a:xfrm>
            <a:off x="3495675" y="3849737"/>
            <a:ext cx="381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2A6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90" name="Google Shape;190;p13"/>
          <p:cNvSpPr txBox="1"/>
          <p:nvPr/>
        </p:nvSpPr>
        <p:spPr>
          <a:xfrm>
            <a:off x="3495675" y="4028777"/>
            <a:ext cx="381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2A6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91" name="Google Shape;191;p13"/>
          <p:cNvSpPr txBox="1"/>
          <p:nvPr/>
        </p:nvSpPr>
        <p:spPr>
          <a:xfrm>
            <a:off x="5315694" y="3670696"/>
            <a:ext cx="381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2A6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92" name="Google Shape;192;p13"/>
          <p:cNvSpPr txBox="1"/>
          <p:nvPr/>
        </p:nvSpPr>
        <p:spPr>
          <a:xfrm>
            <a:off x="5315694" y="3849737"/>
            <a:ext cx="381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2A6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93" name="Google Shape;193;p13"/>
          <p:cNvSpPr txBox="1"/>
          <p:nvPr/>
        </p:nvSpPr>
        <p:spPr>
          <a:xfrm>
            <a:off x="5315694" y="4028777"/>
            <a:ext cx="381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2A6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94" name="Google Shape;194;p13"/>
          <p:cNvSpPr txBox="1"/>
          <p:nvPr/>
        </p:nvSpPr>
        <p:spPr>
          <a:xfrm>
            <a:off x="7135713" y="3670696"/>
            <a:ext cx="381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2A6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95" name="Google Shape;195;p13"/>
          <p:cNvSpPr txBox="1"/>
          <p:nvPr/>
        </p:nvSpPr>
        <p:spPr>
          <a:xfrm>
            <a:off x="7135713" y="3849737"/>
            <a:ext cx="381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2A6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96" name="Google Shape;196;p13"/>
          <p:cNvSpPr txBox="1"/>
          <p:nvPr/>
        </p:nvSpPr>
        <p:spPr>
          <a:xfrm>
            <a:off x="7135713" y="4028777"/>
            <a:ext cx="381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2A6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pic>
        <p:nvPicPr>
          <p:cNvPr descr="image.png" id="197" name="Google Shape;197;p13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4216747" y="517936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3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5880348" y="517936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3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7520136" y="5179367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3"/>
          <p:cNvSpPr/>
          <p:nvPr/>
        </p:nvSpPr>
        <p:spPr>
          <a:xfrm>
            <a:off x="5000476" y="6084242"/>
            <a:ext cx="2190898" cy="1809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3"/>
          <p:cNvSpPr txBox="1"/>
          <p:nvPr/>
        </p:nvSpPr>
        <p:spPr>
          <a:xfrm>
            <a:off x="5095726" y="6084242"/>
            <a:ext cx="200039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에러 자가복구(Self-correction)</a:t>
            </a:r>
            <a:endParaRPr/>
          </a:p>
        </p:txBody>
      </p:sp>
      <p:sp>
        <p:nvSpPr>
          <p:cNvPr id="202" name="Google Shape;202;p13"/>
          <p:cNvSpPr/>
          <p:nvPr/>
        </p:nvSpPr>
        <p:spPr>
          <a:xfrm>
            <a:off x="5268069" y="6265217"/>
            <a:ext cx="1655861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3"/>
          <p:cNvSpPr txBox="1"/>
          <p:nvPr/>
        </p:nvSpPr>
        <p:spPr>
          <a:xfrm>
            <a:off x="5363319" y="6265217"/>
            <a:ext cx="146536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복구 경험은 하네스로 환류</a:t>
            </a:r>
            <a:endParaRPr/>
          </a:p>
        </p:txBody>
      </p:sp>
      <p:sp>
        <p:nvSpPr>
          <p:cNvPr id="204" name="Google Shape;204;p13"/>
          <p:cNvSpPr txBox="1"/>
          <p:nvPr/>
        </p:nvSpPr>
        <p:spPr>
          <a:xfrm>
            <a:off x="2733675" y="3499246"/>
            <a:ext cx="565100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주입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(실행 레일)</a:t>
            </a:r>
            <a:endParaRPr/>
          </a:p>
        </p:txBody>
      </p:sp>
      <p:sp>
        <p:nvSpPr>
          <p:cNvPr id="205" name="Google Shape;205;p13"/>
          <p:cNvSpPr/>
          <p:nvPr/>
        </p:nvSpPr>
        <p:spPr>
          <a:xfrm>
            <a:off x="2762250" y="3832621"/>
            <a:ext cx="476250" cy="28575"/>
          </a:xfrm>
          <a:prstGeom prst="rect">
            <a:avLst/>
          </a:prstGeom>
          <a:solidFill>
            <a:srgbClr val="112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2743200" y="4975621"/>
            <a:ext cx="679400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환류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(지식 자산화)</a:t>
            </a:r>
            <a:endParaRPr/>
          </a:p>
        </p:txBody>
      </p:sp>
      <p:sp>
        <p:nvSpPr>
          <p:cNvPr id="207" name="Google Shape;207;p13"/>
          <p:cNvSpPr/>
          <p:nvPr/>
        </p:nvSpPr>
        <p:spPr>
          <a:xfrm>
            <a:off x="2762250" y="4880371"/>
            <a:ext cx="476250" cy="19050"/>
          </a:xfrm>
          <a:prstGeom prst="rect">
            <a:avLst/>
          </a:prstGeom>
          <a:noFill/>
          <a:ln cap="flat" cmpd="sng" w="19050">
            <a:solidFill>
              <a:srgbClr val="112A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3"/>
          <p:cNvSpPr/>
          <p:nvPr/>
        </p:nvSpPr>
        <p:spPr>
          <a:xfrm>
            <a:off x="8953500" y="3832621"/>
            <a:ext cx="476250" cy="28575"/>
          </a:xfrm>
          <a:prstGeom prst="rect">
            <a:avLst/>
          </a:prstGeom>
          <a:solidFill>
            <a:srgbClr val="112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